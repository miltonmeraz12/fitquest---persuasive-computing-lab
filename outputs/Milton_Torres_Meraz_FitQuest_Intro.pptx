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ee0bb8778274e0c" /><Relationship Type="http://schemas.openxmlformats.org/officeDocument/2006/relationships/extended-properties" Target="/docProps/app.xml" Id="R3f07ea05bff84851" /><Relationship Type="http://schemas.openxmlformats.org/officeDocument/2006/relationships/officeDocument" Target="/ppt/presentation.xml" Id="R78cdcb2b7d2e4f98" /></Relationships>
</file>

<file path=ppt/presentation.xml><?xml version="1.0" encoding="utf-8"?>
<p:presentation xmlns:p="http://schemas.openxmlformats.org/presentationml/2006/main">
  <p:sldMasterIdLst>
    <p:sldMasterId xmlns:r="http://schemas.openxmlformats.org/officeDocument/2006/relationships" id="2147483648" r:id="R09dd911a489b4953"/>
  </p:sldMasterIdLst>
  <p:notesMasterIdLst>
    <p:notesMasterId xmlns:r="http://schemas.openxmlformats.org/officeDocument/2006/relationships" r:id="R83a5cdd37a204432"/>
  </p:notesMasterIdLst>
  <p:sldIdLst>
    <p:sldId xmlns:r="http://schemas.openxmlformats.org/officeDocument/2006/relationships" id="256" r:id="Rce34d199c1324ac5"/>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af6632eaad74ffd" /><Relationship Type="http://schemas.openxmlformats.org/officeDocument/2006/relationships/slideMaster" Target="/ppt/slideMasters/slideMaster1.xml" Id="R09dd911a489b4953" /><Relationship Type="http://schemas.openxmlformats.org/officeDocument/2006/relationships/notesMaster" Target="/ppt/notesMasters/notesMaster1.xml" Id="R83a5cdd37a204432" /><Relationship Type="http://schemas.openxmlformats.org/officeDocument/2006/relationships/presProps" Target="/ppt/presProps.xml" Id="Re0a48e62af304465" /><Relationship Type="http://schemas.openxmlformats.org/officeDocument/2006/relationships/tableStyles" Target="/ppt/tableStyles.xml" Id="R53986de9002a46ac" /><Relationship Type="http://schemas.openxmlformats.org/officeDocument/2006/relationships/slide" Target="/ppt/slides/slide1.xml" Id="Rce34d199c1324ac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f250e6865f8434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c6dcff2bf124338" /><Relationship Type="http://schemas.openxmlformats.org/officeDocument/2006/relationships/notesMaster" Target="/ppt/notesMasters/notesMaster1.xml" Id="R3ea5f5a680d34e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 I am Milton Torres, a MITACS Globalink Research Intern from Mexico, supervised by Dr. Rita Orji, Dr. Fidelia Orji and Dr. Grace Ataguba. FitQuest addresses the challenge of representing physical movement reliably across heterogeneous sensors. The methodology combines camera-based YOLO pose and dumbbell detection, ESP32 IMU telemetry, and Garmin heart-rate context. The expected outcome is a reusable set of normalized movement signals for HCI evaluation and future adaptive, assistive and rehabilitation-oriented applications.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d9930fb02e418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820e6e0bee405f" /><Relationship Type="http://schemas.openxmlformats.org/officeDocument/2006/relationships/slideLayout" Target="/ppt/slideLayouts/slideLayout1.xml" Id="Rc023c0433eac4bd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023c0433eac4bd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0d1dc2c4af54275" /><Relationship Type="http://schemas.openxmlformats.org/officeDocument/2006/relationships/image" Target="/ppt/media/image.jpeg" Id="Rb29f2b6dd8d940b0" /><Relationship Type="http://schemas.openxmlformats.org/officeDocument/2006/relationships/notesSlide" Target="/ppt/notesSlides/notesSlide1.xml" Id="R65c2ecff7b694609" /></Relationships>
</file>

<file path=ppt/slides/slide1.xml><?xml version="1.0" encoding="utf-8"?>
<p:sld xmlns:p="http://schemas.openxmlformats.org/presentationml/2006/main">
  <p:cSld>
    <p:bg>
      <p:bgPr>
        <a:solidFill xmlns:a="http://schemas.openxmlformats.org/drawingml/2006/main">
          <a:srgbClr val="071720"/>
        </a:solidFill>
      </p:bgPr>
    </p:bg>
    <p:spTree>
      <p:nvGrpSpPr>
        <p:cNvPr id="1" name=""/>
        <p:cNvGrpSpPr/>
        <p:nvPr/>
      </p:nvGrpSpPr>
      <p:grpSpPr>
        <a:xfrm xmlns:a="http://schemas.openxmlformats.org/drawingml/2006/main"/>
      </p:grpSpPr>
      <p:sp>
        <p:nvSpPr>
          <p:cNvPr id="26" name="lab-eyebrow">
            <a:extLst xmlns:a="http://schemas.openxmlformats.org/drawingml/2006/main">
              <a:ext uri="{FF2B5EF4-FFF2-40B4-BE49-F238E27FC236}">
                <a16:creationId xmlns:a16="http://schemas.microsoft.com/office/drawing/2014/main" id="{D4A33609-3504-401D-BAE8-CDD68CACFA31}"/>
              </a:ext>
            </a:extLst>
          </p:cNvPr>
          <p:cNvSpPr>
            <a:spLocks xmlns:a="http://schemas.openxmlformats.org/drawingml/2006/main" noGrp="1"/>
          </p:cNvSpPr>
          <p:nvPr/>
        </p:nvSpPr>
        <p:spPr>
          <a:xfrm xmlns:a="http://schemas.openxmlformats.org/drawingml/2006/main">
            <a:off x="723900" y="3238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75" b="1">
                <a:solidFill>
                  <a:srgbClr val="4FE3F2"/>
                </a:solidFill>
                <a:latin typeface="Aptos"/>
                <a:ea typeface="Aptos"/>
                <a:cs typeface="Aptos"/>
              </a:defRPr>
            </a:pPr>
            <a:r>
              <a:rPr sz="975" b="1">
                <a:solidFill>
                  <a:srgbClr val="4FE3F2"/>
                </a:solidFill>
                <a:latin typeface="Aptos"/>
                <a:ea typeface="Aptos"/>
                <a:cs typeface="Aptos"/>
              </a:rPr>
              <a:t>PERSUASIVE COMPUTING LAB  /  DALHOUSIE UNIVERSITY</a:t>
            </a:r>
          </a:p>
        </p:txBody>
      </p:sp>
      <p:sp>
        <p:nvSpPr>
          <p:cNvPr id="2" name="project-title">
            <a:extLst xmlns:a="http://schemas.openxmlformats.org/drawingml/2006/main">
              <a:ext uri="{FF2B5EF4-FFF2-40B4-BE49-F238E27FC236}">
                <a16:creationId xmlns:a16="http://schemas.microsoft.com/office/drawing/2014/main" id="{2D628C1C-572C-44E3-9DBF-FB4712588108}"/>
              </a:ext>
            </a:extLst>
          </p:cNvPr>
          <p:cNvSpPr>
            <a:spLocks xmlns:a="http://schemas.openxmlformats.org/drawingml/2006/main" noGrp="1"/>
          </p:cNvSpPr>
          <p:nvPr/>
        </p:nvSpPr>
        <p:spPr>
          <a:xfrm xmlns:a="http://schemas.openxmlformats.org/drawingml/2006/main">
            <a:off x="723900" y="666750"/>
            <a:ext cx="571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4200" b="1">
                <a:solidFill>
                  <a:srgbClr val="F4F8FA"/>
                </a:solidFill>
                <a:latin typeface="Aptos"/>
                <a:ea typeface="Aptos"/>
                <a:cs typeface="Aptos"/>
              </a:defRPr>
            </a:pPr>
            <a:r>
              <a:rPr sz="4200" b="1">
                <a:solidFill>
                  <a:srgbClr val="F4F8FA"/>
                </a:solidFill>
                <a:latin typeface="Aptos"/>
                <a:ea typeface="Aptos"/>
                <a:cs typeface="Aptos"/>
              </a:rPr>
              <a:t>FitQuest</a:t>
            </a:r>
          </a:p>
        </p:txBody>
      </p:sp>
      <p:sp>
        <p:nvSpPr>
          <p:cNvPr id="3" name="project-subtitle">
            <a:extLst xmlns:a="http://schemas.openxmlformats.org/drawingml/2006/main">
              <a:ext uri="{FF2B5EF4-FFF2-40B4-BE49-F238E27FC236}">
                <a16:creationId xmlns:a16="http://schemas.microsoft.com/office/drawing/2014/main" id="{CF7BC39D-285D-4D5D-B9E4-9B5B17E5BFC5}"/>
              </a:ext>
            </a:extLst>
          </p:cNvPr>
          <p:cNvSpPr>
            <a:spLocks xmlns:a="http://schemas.openxmlformats.org/drawingml/2006/main" noGrp="1"/>
          </p:cNvSpPr>
          <p:nvPr/>
        </p:nvSpPr>
        <p:spPr>
          <a:xfrm xmlns:a="http://schemas.openxmlformats.org/drawingml/2006/main">
            <a:off x="723900" y="1323975"/>
            <a:ext cx="581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4FE3F2"/>
                </a:solidFill>
                <a:latin typeface="Aptos"/>
                <a:ea typeface="Aptos"/>
                <a:cs typeface="Aptos"/>
              </a:defRPr>
            </a:pPr>
            <a:r>
              <a:rPr sz="1725" b="1">
                <a:solidFill>
                  <a:srgbClr val="4FE3F2"/>
                </a:solidFill>
                <a:latin typeface="Aptos"/>
                <a:ea typeface="Aptos"/>
                <a:cs typeface="Aptos"/>
              </a:rPr>
              <a:t>Sensor-fusion engine for physical interaction</a:t>
            </a:r>
          </a:p>
        </p:txBody>
      </p:sp>
      <p:sp>
        <p:nvSpPr>
          <p:cNvPr id="4" name="header-rule">
            <a:extLst xmlns:a="http://schemas.openxmlformats.org/drawingml/2006/main">
              <a:ext uri="{FF2B5EF4-FFF2-40B4-BE49-F238E27FC236}">
                <a16:creationId xmlns:a16="http://schemas.microsoft.com/office/drawing/2014/main" id="{51AADFE4-AE24-4ABF-BBE5-F3AC8EDFE530}"/>
              </a:ext>
            </a:extLst>
          </p:cNvPr>
          <p:cNvSpPr>
            <a:spLocks xmlns:a="http://schemas.openxmlformats.org/drawingml/2006/main" noGrp="1"/>
          </p:cNvSpPr>
          <p:nvPr/>
        </p:nvSpPr>
        <p:spPr>
          <a:xfrm xmlns:a="http://schemas.openxmlformats.org/drawingml/2006/main">
            <a:off x="723900" y="1724025"/>
            <a:ext cx="5657850" cy="0"/>
          </a:xfrm>
          <a:prstGeom xmlns:a="http://schemas.openxmlformats.org/drawingml/2006/main" prst="line">
            <a:avLst/>
          </a:prstGeom>
          <a:noFill xmlns:a="http://schemas.openxmlformats.org/drawingml/2006/main"/>
          <a:ln xmlns:a="http://schemas.openxmlformats.org/drawingml/2006/main" w="9525">
            <a:solidFill>
              <a:srgbClr val="1D4C5A"/>
            </a:solidFill>
            <a:prstDash val="solid"/>
          </a:ln>
        </p:spPr>
      </p:sp>
      <p:sp>
        <p:nvSpPr>
          <p:cNvPr id="5" name="problem-title">
            <a:extLst xmlns:a="http://schemas.openxmlformats.org/drawingml/2006/main">
              <a:ext uri="{FF2B5EF4-FFF2-40B4-BE49-F238E27FC236}">
                <a16:creationId xmlns:a16="http://schemas.microsoft.com/office/drawing/2014/main" id="{DA853975-35EB-4FA9-BBB2-87731DE88D99}"/>
              </a:ext>
            </a:extLst>
          </p:cNvPr>
          <p:cNvSpPr>
            <a:spLocks xmlns:a="http://schemas.openxmlformats.org/drawingml/2006/main" noGrp="1"/>
          </p:cNvSpPr>
          <p:nvPr/>
        </p:nvSpPr>
        <p:spPr>
          <a:xfrm xmlns:a="http://schemas.openxmlformats.org/drawingml/2006/main">
            <a:off x="723900" y="20383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1">
                <a:solidFill>
                  <a:srgbClr val="FF9B58"/>
                </a:solidFill>
                <a:latin typeface="Aptos"/>
                <a:ea typeface="Aptos"/>
                <a:cs typeface="Aptos"/>
              </a:defRPr>
            </a:pPr>
            <a:r>
              <a:rPr sz="1500" b="1">
                <a:solidFill>
                  <a:srgbClr val="FF9B58"/>
                </a:solidFill>
                <a:latin typeface="Aptos"/>
                <a:ea typeface="Aptos"/>
                <a:cs typeface="Aptos"/>
              </a:rPr>
              <a:t>PROBLEM STATEMENT</a:t>
            </a:r>
          </a:p>
        </p:txBody>
      </p:sp>
      <p:sp>
        <p:nvSpPr>
          <p:cNvPr id="6" name="problem-rule">
            <a:extLst xmlns:a="http://schemas.openxmlformats.org/drawingml/2006/main">
              <a:ext uri="{FF2B5EF4-FFF2-40B4-BE49-F238E27FC236}">
                <a16:creationId xmlns:a16="http://schemas.microsoft.com/office/drawing/2014/main" id="{487012BC-2A34-4A30-87A2-00055F0DEEE9}"/>
              </a:ext>
            </a:extLst>
          </p:cNvPr>
          <p:cNvSpPr>
            <a:spLocks xmlns:a="http://schemas.openxmlformats.org/drawingml/2006/main" noGrp="1"/>
          </p:cNvSpPr>
          <p:nvPr/>
        </p:nvSpPr>
        <p:spPr>
          <a:xfrm xmlns:a="http://schemas.openxmlformats.org/drawingml/2006/main">
            <a:off x="723900" y="2371725"/>
            <a:ext cx="2571750" cy="0"/>
          </a:xfrm>
          <a:prstGeom xmlns:a="http://schemas.openxmlformats.org/drawingml/2006/main" prst="line">
            <a:avLst/>
          </a:prstGeom>
          <a:noFill xmlns:a="http://schemas.openxmlformats.org/drawingml/2006/main"/>
          <a:ln xmlns:a="http://schemas.openxmlformats.org/drawingml/2006/main" w="19050">
            <a:solidFill>
              <a:srgbClr val="FF9B58"/>
            </a:solidFill>
            <a:prstDash val="solid"/>
          </a:ln>
        </p:spPr>
      </p:sp>
      <p:sp>
        <p:nvSpPr>
          <p:cNvPr id="7" name="problem-body">
            <a:extLst xmlns:a="http://schemas.openxmlformats.org/drawingml/2006/main">
              <a:ext uri="{FF2B5EF4-FFF2-40B4-BE49-F238E27FC236}">
                <a16:creationId xmlns:a16="http://schemas.microsoft.com/office/drawing/2014/main" id="{97F7FCCF-32C1-4CEF-9EC8-1886EC548DDA}"/>
              </a:ext>
            </a:extLst>
          </p:cNvPr>
          <p:cNvSpPr>
            <a:spLocks xmlns:a="http://schemas.openxmlformats.org/drawingml/2006/main" noGrp="1"/>
          </p:cNvSpPr>
          <p:nvPr/>
        </p:nvSpPr>
        <p:spPr>
          <a:xfrm xmlns:a="http://schemas.openxmlformats.org/drawingml/2006/main">
            <a:off x="723900" y="2495550"/>
            <a:ext cx="25717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635"/>
          </a:bodyPr>
          <a:lstStyle xmlns:a="http://schemas.openxmlformats.org/drawingml/2006/main"/>
          <a:p xmlns:a="http://schemas.openxmlformats.org/drawingml/2006/main">
            <a:pPr>
              <a:lnSpc>
                <a:spcPct val="102000"/>
              </a:lnSpc>
              <a:buNone/>
              <a:defRPr sz="1200">
                <a:solidFill>
                  <a:srgbClr val="A8BEC7"/>
                </a:solidFill>
                <a:latin typeface="Aptos"/>
                <a:ea typeface="Aptos"/>
                <a:cs typeface="Aptos"/>
              </a:defRPr>
            </a:pPr>
            <a:r>
              <a:rPr sz="1200">
                <a:solidFill>
                  <a:srgbClr val="A8BEC7"/>
                </a:solidFill>
                <a:latin typeface="Aptos"/>
                <a:ea typeface="Aptos"/>
                <a:cs typeface="Aptos"/>
              </a:rPr>
              <a:t>- Interactive systems do not model physical movement reliably across heterogeneous sensors.</a:t>
            </a:r>
          </a:p>
          <a:p xmlns:a="http://schemas.openxmlformats.org/drawingml/2006/main">
            <a:pPr>
              <a:lnSpc>
                <a:spcPct val="102000"/>
              </a:lnSpc>
              <a:buNone/>
              <a:defRPr sz="1200">
                <a:solidFill>
                  <a:srgbClr val="A8BEC7"/>
                </a:solidFill>
                <a:latin typeface="Aptos"/>
                <a:ea typeface="Aptos"/>
                <a:cs typeface="Aptos"/>
              </a:defRPr>
            </a:pPr>
            <a:r>
              <a:rPr sz="1200">
                <a:solidFill>
                  <a:srgbClr val="A8BEC7"/>
                </a:solidFill>
                <a:latin typeface="Aptos"/>
                <a:ea typeface="Aptos"/>
                <a:cs typeface="Aptos"/>
              </a:rPr>
              <a:t>- Vision-only and isolated wearable approaches lack synchronized, standardized signals.</a:t>
            </a:r>
          </a:p>
          <a:p xmlns:a="http://schemas.openxmlformats.org/drawingml/2006/main">
            <a:pPr>
              <a:lnSpc>
                <a:spcPct val="102000"/>
              </a:lnSpc>
              <a:buNone/>
              <a:defRPr sz="1200">
                <a:solidFill>
                  <a:srgbClr val="A8BEC7"/>
                </a:solidFill>
                <a:latin typeface="Aptos"/>
                <a:ea typeface="Aptos"/>
                <a:cs typeface="Aptos"/>
              </a:defRPr>
            </a:pPr>
            <a:r>
              <a:rPr sz="1200">
                <a:solidFill>
                  <a:srgbClr val="A8BEC7"/>
                </a:solidFill>
                <a:latin typeface="Aptos"/>
                <a:ea typeface="Aptos"/>
                <a:cs typeface="Aptos"/>
              </a:rPr>
              <a:t>- This limits analysis of posture, load, symmetry and exertion.</a:t>
            </a:r>
          </a:p>
        </p:txBody>
      </p:sp>
      <p:sp>
        <p:nvSpPr>
          <p:cNvPr id="8" name="method-title">
            <a:extLst xmlns:a="http://schemas.openxmlformats.org/drawingml/2006/main">
              <a:ext uri="{FF2B5EF4-FFF2-40B4-BE49-F238E27FC236}">
                <a16:creationId xmlns:a16="http://schemas.microsoft.com/office/drawing/2014/main" id="{7052181B-3A34-4AE0-9A25-8BF1842482CD}"/>
              </a:ext>
            </a:extLst>
          </p:cNvPr>
          <p:cNvSpPr>
            <a:spLocks xmlns:a="http://schemas.openxmlformats.org/drawingml/2006/main" noGrp="1"/>
          </p:cNvSpPr>
          <p:nvPr/>
        </p:nvSpPr>
        <p:spPr>
          <a:xfrm xmlns:a="http://schemas.openxmlformats.org/drawingml/2006/main">
            <a:off x="3486150" y="2038350"/>
            <a:ext cx="2895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1">
                <a:solidFill>
                  <a:srgbClr val="4FE3F2"/>
                </a:solidFill>
                <a:latin typeface="Aptos"/>
                <a:ea typeface="Aptos"/>
                <a:cs typeface="Aptos"/>
              </a:defRPr>
            </a:pPr>
            <a:r>
              <a:rPr sz="1500" b="1">
                <a:solidFill>
                  <a:srgbClr val="4FE3F2"/>
                </a:solidFill>
                <a:latin typeface="Aptos"/>
                <a:ea typeface="Aptos"/>
                <a:cs typeface="Aptos"/>
              </a:rPr>
              <a:t>METHODOLOGY / TECH STACK</a:t>
            </a:r>
          </a:p>
        </p:txBody>
      </p:sp>
      <p:sp>
        <p:nvSpPr>
          <p:cNvPr id="9" name="method-rule">
            <a:extLst xmlns:a="http://schemas.openxmlformats.org/drawingml/2006/main">
              <a:ext uri="{FF2B5EF4-FFF2-40B4-BE49-F238E27FC236}">
                <a16:creationId xmlns:a16="http://schemas.microsoft.com/office/drawing/2014/main" id="{70EDBE29-B7A6-42A1-9D17-EC4395ACEABA}"/>
              </a:ext>
            </a:extLst>
          </p:cNvPr>
          <p:cNvSpPr>
            <a:spLocks xmlns:a="http://schemas.openxmlformats.org/drawingml/2006/main" noGrp="1"/>
          </p:cNvSpPr>
          <p:nvPr/>
        </p:nvSpPr>
        <p:spPr>
          <a:xfrm xmlns:a="http://schemas.openxmlformats.org/drawingml/2006/main">
            <a:off x="3486150" y="2371725"/>
            <a:ext cx="2895600" cy="0"/>
          </a:xfrm>
          <a:prstGeom xmlns:a="http://schemas.openxmlformats.org/drawingml/2006/main" prst="line">
            <a:avLst/>
          </a:prstGeom>
          <a:noFill xmlns:a="http://schemas.openxmlformats.org/drawingml/2006/main"/>
          <a:ln xmlns:a="http://schemas.openxmlformats.org/drawingml/2006/main" w="19050">
            <a:solidFill>
              <a:srgbClr val="4FE3F2"/>
            </a:solidFill>
            <a:prstDash val="solid"/>
          </a:ln>
        </p:spPr>
      </p:sp>
      <p:sp>
        <p:nvSpPr>
          <p:cNvPr id="10" name="method-body">
            <a:extLst xmlns:a="http://schemas.openxmlformats.org/drawingml/2006/main">
              <a:ext uri="{FF2B5EF4-FFF2-40B4-BE49-F238E27FC236}">
                <a16:creationId xmlns:a16="http://schemas.microsoft.com/office/drawing/2014/main" id="{3AEBA2B2-000E-46AF-AB5E-4CAC1B05A92E}"/>
              </a:ext>
            </a:extLst>
          </p:cNvPr>
          <p:cNvSpPr>
            <a:spLocks xmlns:a="http://schemas.openxmlformats.org/drawingml/2006/main" noGrp="1"/>
          </p:cNvSpPr>
          <p:nvPr/>
        </p:nvSpPr>
        <p:spPr>
          <a:xfrm xmlns:a="http://schemas.openxmlformats.org/drawingml/2006/main">
            <a:off x="3486150" y="2495550"/>
            <a:ext cx="28956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2000"/>
              </a:lnSpc>
              <a:buNone/>
              <a:defRPr sz="1200">
                <a:solidFill>
                  <a:srgbClr val="A8BEC7"/>
                </a:solidFill>
                <a:latin typeface="Aptos"/>
                <a:ea typeface="Aptos"/>
                <a:cs typeface="Aptos"/>
              </a:defRPr>
            </a:pPr>
            <a:r>
              <a:rPr sz="1200">
                <a:solidFill>
                  <a:srgbClr val="A8BEC7"/>
                </a:solidFill>
                <a:latin typeface="Aptos"/>
                <a:ea typeface="Aptos"/>
                <a:cs typeface="Aptos"/>
              </a:rPr>
              <a:t>- Camera + YOLO: body-pose estimation and dumbbell detection.</a:t>
            </a:r>
          </a:p>
          <a:p xmlns:a="http://schemas.openxmlformats.org/drawingml/2006/main">
            <a:pPr>
              <a:lnSpc>
                <a:spcPct val="102000"/>
              </a:lnSpc>
              <a:buNone/>
              <a:defRPr sz="1200">
                <a:solidFill>
                  <a:srgbClr val="A8BEC7"/>
                </a:solidFill>
                <a:latin typeface="Aptos"/>
                <a:ea typeface="Aptos"/>
                <a:cs typeface="Aptos"/>
              </a:defRPr>
            </a:pPr>
            <a:r>
              <a:rPr sz="1200">
                <a:solidFill>
                  <a:srgbClr val="A8BEC7"/>
                </a:solidFill>
                <a:latin typeface="Aptos"/>
                <a:ea typeface="Aptos"/>
                <a:cs typeface="Aptos"/>
              </a:rPr>
              <a:t>- ESP32 + IMU: motion, orientation and stability telemetry.</a:t>
            </a:r>
          </a:p>
          <a:p xmlns:a="http://schemas.openxmlformats.org/drawingml/2006/main">
            <a:pPr>
              <a:lnSpc>
                <a:spcPct val="102000"/>
              </a:lnSpc>
              <a:buNone/>
              <a:defRPr sz="1200">
                <a:solidFill>
                  <a:srgbClr val="A8BEC7"/>
                </a:solidFill>
                <a:latin typeface="Aptos"/>
                <a:ea typeface="Aptos"/>
                <a:cs typeface="Aptos"/>
              </a:defRPr>
            </a:pPr>
            <a:r>
              <a:rPr sz="1200">
                <a:solidFill>
                  <a:srgbClr val="A8BEC7"/>
                </a:solidFill>
                <a:latin typeface="Aptos"/>
                <a:ea typeface="Aptos"/>
                <a:cs typeface="Aptos"/>
              </a:rPr>
              <a:t>- Garmin Venu 3: heart-rate and physiological context.</a:t>
            </a:r>
          </a:p>
          <a:p xmlns:a="http://schemas.openxmlformats.org/drawingml/2006/main">
            <a:pPr>
              <a:lnSpc>
                <a:spcPct val="102000"/>
              </a:lnSpc>
              <a:buNone/>
              <a:defRPr sz="1200">
                <a:solidFill>
                  <a:srgbClr val="A8BEC7"/>
                </a:solidFill>
                <a:latin typeface="Aptos"/>
                <a:ea typeface="Aptos"/>
                <a:cs typeface="Aptos"/>
              </a:defRPr>
            </a:pPr>
            <a:r>
              <a:rPr sz="1200">
                <a:solidFill>
                  <a:srgbClr val="A8BEC7"/>
                </a:solidFill>
                <a:latin typeface="Aptos"/>
                <a:ea typeface="Aptos"/>
                <a:cs typeface="Aptos"/>
              </a:rPr>
              <a:t>- Fusion pipeline synchronizes, calibrates and exports normalized JSON/JSONL features.</a:t>
            </a:r>
          </a:p>
        </p:txBody>
      </p:sp>
      <p:sp>
        <p:nvSpPr>
          <p:cNvPr id="11" name="outcomes-title">
            <a:extLst xmlns:a="http://schemas.openxmlformats.org/drawingml/2006/main">
              <a:ext uri="{FF2B5EF4-FFF2-40B4-BE49-F238E27FC236}">
                <a16:creationId xmlns:a16="http://schemas.microsoft.com/office/drawing/2014/main" id="{8013C6B7-5557-4C6C-9420-5A821DC6910A}"/>
              </a:ext>
            </a:extLst>
          </p:cNvPr>
          <p:cNvSpPr>
            <a:spLocks xmlns:a="http://schemas.openxmlformats.org/drawingml/2006/main" noGrp="1"/>
          </p:cNvSpPr>
          <p:nvPr/>
        </p:nvSpPr>
        <p:spPr>
          <a:xfrm xmlns:a="http://schemas.openxmlformats.org/drawingml/2006/main">
            <a:off x="723900" y="385762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687"/>
          </a:bodyPr>
          <a:lstStyle xmlns:a="http://schemas.openxmlformats.org/drawingml/2006/main"/>
          <a:p xmlns:a="http://schemas.openxmlformats.org/drawingml/2006/main">
            <a:pPr>
              <a:defRPr sz="1500" b="1">
                <a:solidFill>
                  <a:srgbClr val="B5E85D"/>
                </a:solidFill>
                <a:latin typeface="Aptos"/>
                <a:ea typeface="Aptos"/>
                <a:cs typeface="Aptos"/>
              </a:defRPr>
            </a:pPr>
            <a:r>
              <a:rPr sz="1500" b="1">
                <a:solidFill>
                  <a:srgbClr val="B5E85D"/>
                </a:solidFill>
                <a:latin typeface="Aptos"/>
                <a:ea typeface="Aptos"/>
                <a:cs typeface="Aptos"/>
              </a:rPr>
              <a:t>EXPECTED OUTCOMES &amp; IMPACT</a:t>
            </a:r>
          </a:p>
        </p:txBody>
      </p:sp>
      <p:sp>
        <p:nvSpPr>
          <p:cNvPr id="12" name="outcomes-rule">
            <a:extLst xmlns:a="http://schemas.openxmlformats.org/drawingml/2006/main">
              <a:ext uri="{FF2B5EF4-FFF2-40B4-BE49-F238E27FC236}">
                <a16:creationId xmlns:a16="http://schemas.microsoft.com/office/drawing/2014/main" id="{E9ED981D-31DC-49D5-8BD6-6D1F6A649D5D}"/>
              </a:ext>
            </a:extLst>
          </p:cNvPr>
          <p:cNvSpPr>
            <a:spLocks xmlns:a="http://schemas.openxmlformats.org/drawingml/2006/main" noGrp="1"/>
          </p:cNvSpPr>
          <p:nvPr/>
        </p:nvSpPr>
        <p:spPr>
          <a:xfrm xmlns:a="http://schemas.openxmlformats.org/drawingml/2006/main">
            <a:off x="723900" y="4191000"/>
            <a:ext cx="2571750" cy="0"/>
          </a:xfrm>
          <a:prstGeom xmlns:a="http://schemas.openxmlformats.org/drawingml/2006/main" prst="line">
            <a:avLst/>
          </a:prstGeom>
          <a:noFill xmlns:a="http://schemas.openxmlformats.org/drawingml/2006/main"/>
          <a:ln xmlns:a="http://schemas.openxmlformats.org/drawingml/2006/main" w="19050">
            <a:solidFill>
              <a:srgbClr val="B5E85D"/>
            </a:solidFill>
            <a:prstDash val="solid"/>
          </a:ln>
        </p:spPr>
      </p:sp>
      <p:sp>
        <p:nvSpPr>
          <p:cNvPr id="13" name="outcomes-body">
            <a:extLst xmlns:a="http://schemas.openxmlformats.org/drawingml/2006/main">
              <a:ext uri="{FF2B5EF4-FFF2-40B4-BE49-F238E27FC236}">
                <a16:creationId xmlns:a16="http://schemas.microsoft.com/office/drawing/2014/main" id="{B46B2A15-2E71-446A-A1E9-D3BB0A15F56F}"/>
              </a:ext>
            </a:extLst>
          </p:cNvPr>
          <p:cNvSpPr>
            <a:spLocks xmlns:a="http://schemas.openxmlformats.org/drawingml/2006/main" noGrp="1"/>
          </p:cNvSpPr>
          <p:nvPr/>
        </p:nvSpPr>
        <p:spPr>
          <a:xfrm xmlns:a="http://schemas.openxmlformats.org/drawingml/2006/main">
            <a:off x="723900" y="4314825"/>
            <a:ext cx="2571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018"/>
          </a:bodyPr>
          <a:lstStyle xmlns:a="http://schemas.openxmlformats.org/drawingml/2006/main"/>
          <a:p xmlns:a="http://schemas.openxmlformats.org/drawingml/2006/main">
            <a:pPr>
              <a:lnSpc>
                <a:spcPct val="102000"/>
              </a:lnSpc>
              <a:buNone/>
              <a:defRPr sz="1200">
                <a:solidFill>
                  <a:srgbClr val="A8BEC7"/>
                </a:solidFill>
                <a:latin typeface="Aptos"/>
                <a:ea typeface="Aptos"/>
                <a:cs typeface="Aptos"/>
              </a:defRPr>
            </a:pPr>
            <a:r>
              <a:rPr sz="1200">
                <a:solidFill>
                  <a:srgbClr val="A8BEC7"/>
                </a:solidFill>
                <a:latin typeface="Aptos"/>
                <a:ea typeface="Aptos"/>
                <a:cs typeface="Aptos"/>
              </a:rPr>
              <a:t>- Reusable signals for arm extension, range, symmetry, stability and exertion.</a:t>
            </a:r>
          </a:p>
          <a:p xmlns:a="http://schemas.openxmlformats.org/drawingml/2006/main">
            <a:pPr>
              <a:lnSpc>
                <a:spcPct val="102000"/>
              </a:lnSpc>
              <a:buNone/>
              <a:defRPr sz="1200">
                <a:solidFill>
                  <a:srgbClr val="A8BEC7"/>
                </a:solidFill>
                <a:latin typeface="Aptos"/>
                <a:ea typeface="Aptos"/>
                <a:cs typeface="Aptos"/>
              </a:defRPr>
            </a:pPr>
            <a:r>
              <a:rPr sz="1200">
                <a:solidFill>
                  <a:srgbClr val="A8BEC7"/>
                </a:solidFill>
                <a:latin typeface="Aptos"/>
                <a:ea typeface="Aptos"/>
                <a:cs typeface="Aptos"/>
              </a:rPr>
              <a:t>- Consistent frame-level data for HCI evaluation and future interactive applications.</a:t>
            </a:r>
          </a:p>
          <a:p xmlns:a="http://schemas.openxmlformats.org/drawingml/2006/main">
            <a:pPr>
              <a:lnSpc>
                <a:spcPct val="102000"/>
              </a:lnSpc>
              <a:buNone/>
              <a:defRPr sz="1200">
                <a:solidFill>
                  <a:srgbClr val="A8BEC7"/>
                </a:solidFill>
                <a:latin typeface="Aptos"/>
                <a:ea typeface="Aptos"/>
                <a:cs typeface="Aptos"/>
              </a:defRPr>
            </a:pPr>
            <a:r>
              <a:rPr sz="1200">
                <a:solidFill>
                  <a:srgbClr val="A8BEC7"/>
                </a:solidFill>
                <a:latin typeface="Aptos"/>
                <a:ea typeface="Aptos"/>
                <a:cs typeface="Aptos"/>
              </a:rPr>
              <a:t>- Middleware foundation for adaptive, assistive and rehabilitation-oriented systems.</a:t>
            </a:r>
          </a:p>
          <a:p xmlns:a="http://schemas.openxmlformats.org/drawingml/2006/main">
            <a:pPr>
              <a:lnSpc>
                <a:spcPct val="102000"/>
              </a:lnSpc>
              <a:buNone/>
              <a:defRPr sz="1200">
                <a:solidFill>
                  <a:srgbClr val="A8BEC7"/>
                </a:solidFill>
                <a:latin typeface="Aptos"/>
                <a:ea typeface="Aptos"/>
                <a:cs typeface="Aptos"/>
              </a:defRPr>
            </a:pPr>
            <a:r>
              <a:rPr sz="1200">
                <a:solidFill>
                  <a:srgbClr val="A8BEC7"/>
                </a:solidFill>
                <a:latin typeface="Aptos"/>
                <a:ea typeface="Aptos"/>
                <a:cs typeface="Aptos"/>
              </a:rPr>
              <a:t>- Validate sensor fusion before the final game layer.</a:t>
            </a:r>
          </a:p>
        </p:txBody>
      </p:sp>
      <p:sp>
        <p:nvSpPr>
          <p:cNvPr id="14" name="personal-title">
            <a:extLst xmlns:a="http://schemas.openxmlformats.org/drawingml/2006/main">
              <a:ext uri="{FF2B5EF4-FFF2-40B4-BE49-F238E27FC236}">
                <a16:creationId xmlns:a16="http://schemas.microsoft.com/office/drawing/2014/main" id="{13B91DFC-86A0-4CC1-AAAD-634BFBA816D5}"/>
              </a:ext>
            </a:extLst>
          </p:cNvPr>
          <p:cNvSpPr>
            <a:spLocks xmlns:a="http://schemas.openxmlformats.org/drawingml/2006/main" noGrp="1"/>
          </p:cNvSpPr>
          <p:nvPr/>
        </p:nvSpPr>
        <p:spPr>
          <a:xfrm xmlns:a="http://schemas.openxmlformats.org/drawingml/2006/main">
            <a:off x="3486150" y="4267200"/>
            <a:ext cx="2895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1">
                <a:solidFill>
                  <a:srgbClr val="FF9B58"/>
                </a:solidFill>
                <a:latin typeface="Aptos"/>
                <a:ea typeface="Aptos"/>
                <a:cs typeface="Aptos"/>
              </a:defRPr>
            </a:pPr>
            <a:r>
              <a:rPr sz="1500" b="1">
                <a:solidFill>
                  <a:srgbClr val="FF9B58"/>
                </a:solidFill>
                <a:latin typeface="Aptos"/>
                <a:ea typeface="Aptos"/>
                <a:cs typeface="Aptos"/>
              </a:rPr>
              <a:t>PERSONAL INFO</a:t>
            </a:r>
          </a:p>
        </p:txBody>
      </p:sp>
      <p:sp>
        <p:nvSpPr>
          <p:cNvPr id="15" name="personal-rule">
            <a:extLst xmlns:a="http://schemas.openxmlformats.org/drawingml/2006/main">
              <a:ext uri="{FF2B5EF4-FFF2-40B4-BE49-F238E27FC236}">
                <a16:creationId xmlns:a16="http://schemas.microsoft.com/office/drawing/2014/main" id="{3399118E-F588-45DB-8EAC-96F9315C4945}"/>
              </a:ext>
            </a:extLst>
          </p:cNvPr>
          <p:cNvSpPr>
            <a:spLocks xmlns:a="http://schemas.openxmlformats.org/drawingml/2006/main" noGrp="1"/>
          </p:cNvSpPr>
          <p:nvPr/>
        </p:nvSpPr>
        <p:spPr>
          <a:xfrm xmlns:a="http://schemas.openxmlformats.org/drawingml/2006/main">
            <a:off x="3486150" y="4600575"/>
            <a:ext cx="2895600" cy="0"/>
          </a:xfrm>
          <a:prstGeom xmlns:a="http://schemas.openxmlformats.org/drawingml/2006/main" prst="line">
            <a:avLst/>
          </a:prstGeom>
          <a:noFill xmlns:a="http://schemas.openxmlformats.org/drawingml/2006/main"/>
          <a:ln xmlns:a="http://schemas.openxmlformats.org/drawingml/2006/main" w="19050">
            <a:solidFill>
              <a:srgbClr val="FF9B58"/>
            </a:solidFill>
            <a:prstDash val="solid"/>
          </a:ln>
        </p:spPr>
      </p:sp>
      <p:sp>
        <p:nvSpPr>
          <p:cNvPr id="16" name="personal-body">
            <a:extLst xmlns:a="http://schemas.openxmlformats.org/drawingml/2006/main">
              <a:ext uri="{FF2B5EF4-FFF2-40B4-BE49-F238E27FC236}">
                <a16:creationId xmlns:a16="http://schemas.microsoft.com/office/drawing/2014/main" id="{3A157D18-606F-4DB1-A736-1DB85612CA2D}"/>
              </a:ext>
            </a:extLst>
          </p:cNvPr>
          <p:cNvSpPr>
            <a:spLocks xmlns:a="http://schemas.openxmlformats.org/drawingml/2006/main" noGrp="1"/>
          </p:cNvSpPr>
          <p:nvPr/>
        </p:nvSpPr>
        <p:spPr>
          <a:xfrm xmlns:a="http://schemas.openxmlformats.org/drawingml/2006/main">
            <a:off x="3486150" y="4724400"/>
            <a:ext cx="28956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2000"/>
              </a:lnSpc>
              <a:buNone/>
              <a:defRPr sz="1200">
                <a:solidFill>
                  <a:srgbClr val="A8BEC7"/>
                </a:solidFill>
                <a:latin typeface="Aptos"/>
                <a:ea typeface="Aptos"/>
                <a:cs typeface="Aptos"/>
              </a:defRPr>
            </a:pPr>
            <a:r>
              <a:rPr sz="1200">
                <a:solidFill>
                  <a:srgbClr val="A8BEC7"/>
                </a:solidFill>
                <a:latin typeface="Aptos"/>
                <a:ea typeface="Aptos"/>
                <a:cs typeface="Aptos"/>
              </a:rPr>
              <a:t>Name: Milton Torres</a:t>
            </a:r>
          </a:p>
          <a:p xmlns:a="http://schemas.openxmlformats.org/drawingml/2006/main">
            <a:pPr>
              <a:lnSpc>
                <a:spcPct val="102000"/>
              </a:lnSpc>
              <a:buNone/>
              <a:defRPr sz="1200">
                <a:solidFill>
                  <a:srgbClr val="A8BEC7"/>
                </a:solidFill>
                <a:latin typeface="Aptos"/>
                <a:ea typeface="Aptos"/>
                <a:cs typeface="Aptos"/>
              </a:defRPr>
            </a:pPr>
            <a:r>
              <a:rPr sz="1200">
                <a:solidFill>
                  <a:srgbClr val="A8BEC7"/>
                </a:solidFill>
                <a:latin typeface="Aptos"/>
                <a:ea typeface="Aptos"/>
                <a:cs typeface="Aptos"/>
              </a:rPr>
              <a:t>Program: MITACS Globalink Research Intern</a:t>
            </a:r>
          </a:p>
          <a:p xmlns:a="http://schemas.openxmlformats.org/drawingml/2006/main">
            <a:pPr>
              <a:lnSpc>
                <a:spcPct val="102000"/>
              </a:lnSpc>
              <a:buNone/>
              <a:defRPr sz="1200">
                <a:solidFill>
                  <a:srgbClr val="A8BEC7"/>
                </a:solidFill>
                <a:latin typeface="Aptos"/>
                <a:ea typeface="Aptos"/>
                <a:cs typeface="Aptos"/>
              </a:defRPr>
            </a:pPr>
            <a:r>
              <a:rPr sz="1200">
                <a:solidFill>
                  <a:srgbClr val="A8BEC7"/>
                </a:solidFill>
                <a:latin typeface="Aptos"/>
                <a:ea typeface="Aptos"/>
                <a:cs typeface="Aptos"/>
              </a:rPr>
              <a:t>Origin: Mexico</a:t>
            </a:r>
          </a:p>
          <a:p xmlns:a="http://schemas.openxmlformats.org/drawingml/2006/main">
            <a:pPr>
              <a:lnSpc>
                <a:spcPct val="102000"/>
              </a:lnSpc>
              <a:buNone/>
              <a:defRPr sz="1200">
                <a:solidFill>
                  <a:srgbClr val="A8BEC7"/>
                </a:solidFill>
                <a:latin typeface="Aptos"/>
                <a:ea typeface="Aptos"/>
                <a:cs typeface="Aptos"/>
              </a:defRPr>
            </a:pPr>
            <a:r>
              <a:rPr sz="1200">
                <a:solidFill>
                  <a:srgbClr val="A8BEC7"/>
                </a:solidFill>
                <a:latin typeface="Aptos"/>
                <a:ea typeface="Aptos"/>
                <a:cs typeface="Aptos"/>
              </a:rPr>
              <a:t>Supervisors: Dr. Rita Orji; Dr. Fidelia Orji; Dr. Grace Ataguba</a:t>
            </a:r>
          </a:p>
        </p:txBody>
      </p:sp>
      <p:sp>
        <p:nvSpPr>
          <p:cNvPr id="17" name="hero-frame">
            <a:extLst xmlns:a="http://schemas.openxmlformats.org/drawingml/2006/main">
              <a:ext uri="{FF2B5EF4-FFF2-40B4-BE49-F238E27FC236}">
                <a16:creationId xmlns:a16="http://schemas.microsoft.com/office/drawing/2014/main" id="{6D2A3746-2353-4989-B515-1AB334CD3685}"/>
              </a:ext>
            </a:extLst>
          </p:cNvPr>
          <p:cNvSpPr>
            <a:spLocks xmlns:a="http://schemas.openxmlformats.org/drawingml/2006/main" noGrp="1"/>
          </p:cNvSpPr>
          <p:nvPr/>
        </p:nvSpPr>
        <p:spPr>
          <a:xfrm xmlns:a="http://schemas.openxmlformats.org/drawingml/2006/main">
            <a:off x="6724650" y="323850"/>
            <a:ext cx="4743450" cy="5962650"/>
          </a:xfrm>
          <a:prstGeom xmlns:a="http://schemas.openxmlformats.org/drawingml/2006/main" prst="roundRect">
            <a:avLst>
              <a:gd name="adj" fmla="val 3213"/>
            </a:avLst>
          </a:prstGeom>
          <a:solidFill xmlns:a="http://schemas.openxmlformats.org/drawingml/2006/main">
            <a:srgbClr val="0D2633"/>
          </a:solidFill>
          <a:ln xmlns:a="http://schemas.openxmlformats.org/drawingml/2006/main" w="9525">
            <a:solidFill>
              <a:srgbClr val="1D4C5A"/>
            </a:solidFill>
            <a:prstDash val="solid"/>
          </a:ln>
        </p:spPr>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b29f2b6dd8d940b0"/>
          <a:srcRect xmlns:a="http://schemas.openxmlformats.org/drawingml/2006/main" l="43" t="0" r="43" b="0"/>
          <a:stretch xmlns:a="http://schemas.openxmlformats.org/drawingml/2006/main">
            <a:fillRect l="0" t="0" r="0" b="0"/>
          </a:stretch>
        </p:blipFill>
        <p:spPr>
          <a:xfrm xmlns:a="http://schemas.openxmlformats.org/drawingml/2006/main">
            <a:off x="6858000" y="457200"/>
            <a:ext cx="4476750" cy="2800350"/>
          </a:xfrm>
          <a:prstGeom xmlns:a="http://schemas.openxmlformats.org/drawingml/2006/main" prst="roundRect">
            <a:avLst>
              <a:gd name="adj" fmla="val 4082"/>
            </a:avLst>
          </a:prstGeom>
        </p:spPr>
      </p:pic>
      <p:sp>
        <p:nvSpPr>
          <p:cNvPr id="19" name="prototype-tag">
            <a:extLst xmlns:a="http://schemas.openxmlformats.org/drawingml/2006/main">
              <a:ext uri="{FF2B5EF4-FFF2-40B4-BE49-F238E27FC236}">
                <a16:creationId xmlns:a16="http://schemas.microsoft.com/office/drawing/2014/main" id="{700A32EF-1CAA-4D7B-AE10-01326F45F22A}"/>
              </a:ext>
            </a:extLst>
          </p:cNvPr>
          <p:cNvSpPr>
            <a:spLocks xmlns:a="http://schemas.openxmlformats.org/drawingml/2006/main" noGrp="1"/>
          </p:cNvSpPr>
          <p:nvPr/>
        </p:nvSpPr>
        <p:spPr>
          <a:xfrm xmlns:a="http://schemas.openxmlformats.org/drawingml/2006/main">
            <a:off x="7029450" y="609600"/>
            <a:ext cx="1257300" cy="266700"/>
          </a:xfrm>
          <a:prstGeom xmlns:a="http://schemas.openxmlformats.org/drawingml/2006/main" prst="roundRect">
            <a:avLst>
              <a:gd name="adj" fmla="val 28571"/>
            </a:avLst>
          </a:prstGeom>
          <a:solidFill xmlns:a="http://schemas.openxmlformats.org/drawingml/2006/main">
            <a:srgbClr val="FF9B58"/>
          </a:solidFill>
          <a:ln xmlns:a="http://schemas.openxmlformats.org/drawingml/2006/main" w="0">
            <a:solidFill>
              <a:srgbClr val="FF9B58"/>
            </a:solidFill>
            <a:prstDash val="solid"/>
          </a:ln>
        </p:spPr>
      </p:sp>
      <p:sp>
        <p:nvSpPr>
          <p:cNvPr id="20" name="prototype-tag-text">
            <a:extLst xmlns:a="http://schemas.openxmlformats.org/drawingml/2006/main">
              <a:ext uri="{FF2B5EF4-FFF2-40B4-BE49-F238E27FC236}">
                <a16:creationId xmlns:a16="http://schemas.microsoft.com/office/drawing/2014/main" id="{921FEC3B-C007-4B76-A87E-D778021E0F59}"/>
              </a:ext>
            </a:extLst>
          </p:cNvPr>
          <p:cNvSpPr>
            <a:spLocks xmlns:a="http://schemas.openxmlformats.org/drawingml/2006/main" noGrp="1"/>
          </p:cNvSpPr>
          <p:nvPr/>
        </p:nvSpPr>
        <p:spPr>
          <a:xfrm xmlns:a="http://schemas.openxmlformats.org/drawingml/2006/main">
            <a:off x="7124700" y="666750"/>
            <a:ext cx="1066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071720"/>
                </a:solidFill>
                <a:latin typeface="Aptos"/>
                <a:ea typeface="Aptos"/>
                <a:cs typeface="Aptos"/>
              </a:defRPr>
            </a:pPr>
            <a:r>
              <a:rPr sz="825" b="1">
                <a:solidFill>
                  <a:srgbClr val="071720"/>
                </a:solidFill>
                <a:latin typeface="Aptos"/>
                <a:ea typeface="Aptos"/>
                <a:cs typeface="Aptos"/>
              </a:rPr>
              <a:t>FITQUEST PROTOTYPE</a:t>
            </a:r>
          </a:p>
        </p:txBody>
      </p:sp>
      <p:sp>
        <p:nvSpPr>
          <p:cNvPr id="21" name="visual-caption">
            <a:extLst xmlns:a="http://schemas.openxmlformats.org/drawingml/2006/main">
              <a:ext uri="{FF2B5EF4-FFF2-40B4-BE49-F238E27FC236}">
                <a16:creationId xmlns:a16="http://schemas.microsoft.com/office/drawing/2014/main" id="{FF764C24-DA38-4580-A318-4E1FFBC55C8E}"/>
              </a:ext>
            </a:extLst>
          </p:cNvPr>
          <p:cNvSpPr>
            <a:spLocks xmlns:a="http://schemas.openxmlformats.org/drawingml/2006/main" noGrp="1"/>
          </p:cNvSpPr>
          <p:nvPr/>
        </p:nvSpPr>
        <p:spPr>
          <a:xfrm xmlns:a="http://schemas.openxmlformats.org/drawingml/2006/main">
            <a:off x="7029450" y="3562350"/>
            <a:ext cx="3962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0000"/>
              </a:lnSpc>
              <a:buNone/>
              <a:defRPr sz="1500" b="1">
                <a:solidFill>
                  <a:srgbClr val="F4F8FA"/>
                </a:solidFill>
                <a:latin typeface="Aptos"/>
                <a:ea typeface="Aptos"/>
                <a:cs typeface="Aptos"/>
              </a:defRPr>
            </a:pPr>
            <a:r>
              <a:rPr sz="1500" b="1">
                <a:solidFill>
                  <a:srgbClr val="F4F8FA"/>
                </a:solidFill>
                <a:latin typeface="Aptos"/>
                <a:ea typeface="Aptos"/>
                <a:cs typeface="Aptos"/>
              </a:rPr>
              <a:t>Live monitor: pose, object context, IMU telemetry and heart-rate data in one view.</a:t>
            </a:r>
          </a:p>
        </p:txBody>
      </p:sp>
      <p:sp>
        <p:nvSpPr>
          <p:cNvPr id="22" name="visual-rule">
            <a:extLst xmlns:a="http://schemas.openxmlformats.org/drawingml/2006/main">
              <a:ext uri="{FF2B5EF4-FFF2-40B4-BE49-F238E27FC236}">
                <a16:creationId xmlns:a16="http://schemas.microsoft.com/office/drawing/2014/main" id="{CC71F3BD-EFC5-4DED-8CD5-10507C7DA5BA}"/>
              </a:ext>
            </a:extLst>
          </p:cNvPr>
          <p:cNvSpPr>
            <a:spLocks xmlns:a="http://schemas.openxmlformats.org/drawingml/2006/main" noGrp="1"/>
          </p:cNvSpPr>
          <p:nvPr/>
        </p:nvSpPr>
        <p:spPr>
          <a:xfrm xmlns:a="http://schemas.openxmlformats.org/drawingml/2006/main">
            <a:off x="7029450" y="4457700"/>
            <a:ext cx="3943350" cy="0"/>
          </a:xfrm>
          <a:prstGeom xmlns:a="http://schemas.openxmlformats.org/drawingml/2006/main" prst="line">
            <a:avLst/>
          </a:prstGeom>
          <a:noFill xmlns:a="http://schemas.openxmlformats.org/drawingml/2006/main"/>
          <a:ln xmlns:a="http://schemas.openxmlformats.org/drawingml/2006/main" w="19050">
            <a:solidFill>
              <a:srgbClr val="4FE3F2"/>
            </a:solidFill>
            <a:prstDash val="solid"/>
          </a:ln>
        </p:spPr>
      </p:sp>
      <p:sp>
        <p:nvSpPr>
          <p:cNvPr id="23" name="visual-takeaway">
            <a:extLst xmlns:a="http://schemas.openxmlformats.org/drawingml/2006/main">
              <a:ext uri="{FF2B5EF4-FFF2-40B4-BE49-F238E27FC236}">
                <a16:creationId xmlns:a16="http://schemas.microsoft.com/office/drawing/2014/main" id="{146B9148-9698-4CED-A727-C88B974F7BDA}"/>
              </a:ext>
            </a:extLst>
          </p:cNvPr>
          <p:cNvSpPr>
            <a:spLocks xmlns:a="http://schemas.openxmlformats.org/drawingml/2006/main" noGrp="1"/>
          </p:cNvSpPr>
          <p:nvPr/>
        </p:nvSpPr>
        <p:spPr>
          <a:xfrm xmlns:a="http://schemas.openxmlformats.org/drawingml/2006/main">
            <a:off x="7029450" y="4695825"/>
            <a:ext cx="3962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98000"/>
              </a:lnSpc>
              <a:buNone/>
              <a:defRPr sz="1800" b="1">
                <a:solidFill>
                  <a:srgbClr val="B5E85D"/>
                </a:solidFill>
                <a:latin typeface="Aptos"/>
                <a:ea typeface="Aptos"/>
                <a:cs typeface="Aptos"/>
              </a:defRPr>
            </a:pPr>
            <a:r>
              <a:rPr sz="1800" b="1">
                <a:solidFill>
                  <a:srgbClr val="B5E85D"/>
                </a:solidFill>
                <a:latin typeface="Aptos"/>
                <a:ea typeface="Aptos"/>
                <a:cs typeface="Aptos"/>
              </a:rPr>
              <a:t>Research-ready movement signals</a:t>
            </a:r>
          </a:p>
          <a:p xmlns:a="http://schemas.openxmlformats.org/drawingml/2006/main">
            <a:pPr>
              <a:lnSpc>
                <a:spcPct val="98000"/>
              </a:lnSpc>
              <a:buNone/>
              <a:defRPr sz="1800" b="1">
                <a:solidFill>
                  <a:srgbClr val="B5E85D"/>
                </a:solidFill>
                <a:latin typeface="Aptos"/>
                <a:ea typeface="Aptos"/>
                <a:cs typeface="Aptos"/>
              </a:defRPr>
            </a:pPr>
            <a:r>
              <a:rPr sz="1800" b="1">
                <a:solidFill>
                  <a:srgbClr val="B5E85D"/>
                </a:solidFill>
                <a:latin typeface="Aptos"/>
                <a:ea typeface="Aptos"/>
                <a:cs typeface="Aptos"/>
              </a:rPr>
              <a:t>for adaptive interaction.</a:t>
            </a:r>
          </a:p>
        </p:txBody>
      </p:sp>
      <p:sp>
        <p:nvSpPr>
          <p:cNvPr id="24" name="footer">
            <a:extLst xmlns:a="http://schemas.openxmlformats.org/drawingml/2006/main">
              <a:ext uri="{FF2B5EF4-FFF2-40B4-BE49-F238E27FC236}">
                <a16:creationId xmlns:a16="http://schemas.microsoft.com/office/drawing/2014/main" id="{44486487-5AC3-4C5F-B250-9CE7FD431B76}"/>
              </a:ext>
            </a:extLst>
          </p:cNvPr>
          <p:cNvSpPr>
            <a:spLocks xmlns:a="http://schemas.openxmlformats.org/drawingml/2006/main" noGrp="1"/>
          </p:cNvSpPr>
          <p:nvPr/>
        </p:nvSpPr>
        <p:spPr>
          <a:xfrm xmlns:a="http://schemas.openxmlformats.org/drawingml/2006/main">
            <a:off x="723900" y="64770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75">
                <a:solidFill>
                  <a:srgbClr val="A8BEC7"/>
                </a:solidFill>
                <a:latin typeface="Aptos"/>
                <a:ea typeface="Aptos"/>
                <a:cs typeface="Aptos"/>
              </a:defRPr>
            </a:pPr>
            <a:r>
              <a:rPr sz="975">
                <a:solidFill>
                  <a:srgbClr val="A8BEC7"/>
                </a:solidFill>
                <a:latin typeface="Aptos"/>
                <a:ea typeface="Aptos"/>
                <a:cs typeface="Aptos"/>
              </a:rPr>
              <a:t>PERSUASIVE COMPUTING LAB  |  DALHOUSIE UNIVERSITY</a:t>
            </a:r>
          </a:p>
        </p:txBody>
      </p:sp>
      <p:sp>
        <p:nvSpPr>
          <p:cNvPr id="25" name="footer-right">
            <a:extLst xmlns:a="http://schemas.openxmlformats.org/drawingml/2006/main">
              <a:ext uri="{FF2B5EF4-FFF2-40B4-BE49-F238E27FC236}">
                <a16:creationId xmlns:a16="http://schemas.microsoft.com/office/drawing/2014/main" id="{9CD9021B-382D-46E0-AA9E-EB7B56D3D625}"/>
              </a:ext>
            </a:extLst>
          </p:cNvPr>
          <p:cNvSpPr>
            <a:spLocks xmlns:a="http://schemas.openxmlformats.org/drawingml/2006/main" noGrp="1"/>
          </p:cNvSpPr>
          <p:nvPr/>
        </p:nvSpPr>
        <p:spPr>
          <a:xfrm xmlns:a="http://schemas.openxmlformats.org/drawingml/2006/main">
            <a:off x="9239250" y="6477000"/>
            <a:ext cx="2228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4FE3F2"/>
                </a:solidFill>
                <a:latin typeface="Aptos"/>
                <a:ea typeface="Aptos"/>
                <a:cs typeface="Aptos"/>
              </a:defRPr>
            </a:pPr>
            <a:r>
              <a:rPr sz="975" b="1">
                <a:solidFill>
                  <a:srgbClr val="4FE3F2"/>
                </a:solidFill>
                <a:latin typeface="Aptos"/>
                <a:ea typeface="Aptos"/>
                <a:cs typeface="Aptos"/>
              </a:rPr>
              <a:t>FITQUEST  /  2026</a:t>
            </a:r>
          </a:p>
        </p:txBody>
      </p:sp>
    </p:spTree>
    <p:extLst>
      <p:ext uri="{BB962C8B-B14F-4D97-AF65-F5344CB8AC3E}">
        <p14:creationId xmlns:p14="http://schemas.microsoft.com/office/powerpoint/2010/main" val="15502175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2026-07-19T04:23:03.0410000Z</dcterms:created>
  <dcterms:modified xsi:type="dcterms:W3CDTF">2026-07-19T04:23:03.0410000Z</dcterms:modified>
</coreProperties>
</file>