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a0499d344e4b2f" /><Relationship Type="http://schemas.openxmlformats.org/officeDocument/2006/relationships/extended-properties" Target="/docProps/app.xml" Id="Re2ee0ff0a6a64082" /><Relationship Type="http://schemas.openxmlformats.org/officeDocument/2006/relationships/officeDocument" Target="/ppt/presentation.xml" Id="R05baa110bfe6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6a216de2ca4aa0"/>
  </p:sldMasterIdLst>
  <p:notesMasterIdLst>
    <p:notesMasterId xmlns:r="http://schemas.openxmlformats.org/officeDocument/2006/relationships" r:id="Reda77611fe8e4669"/>
  </p:notesMasterIdLst>
  <p:sldIdLst>
    <p:sldId xmlns:r="http://schemas.openxmlformats.org/officeDocument/2006/relationships" id="256" r:id="R8be534ef453f4b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c0cac8e4924ce5" /><Relationship Type="http://schemas.openxmlformats.org/officeDocument/2006/relationships/slideMaster" Target="/ppt/slideMasters/slideMaster1.xml" Id="R666a216de2ca4aa0" /><Relationship Type="http://schemas.openxmlformats.org/officeDocument/2006/relationships/notesMaster" Target="/ppt/notesMasters/notesMaster1.xml" Id="Reda77611fe8e4669" /><Relationship Type="http://schemas.openxmlformats.org/officeDocument/2006/relationships/presProps" Target="/ppt/presProps.xml" Id="R66432834a7f64f10" /><Relationship Type="http://schemas.openxmlformats.org/officeDocument/2006/relationships/tableStyles" Target="/ppt/tableStyles.xml" Id="Rec6215e88d92460c" /><Relationship Type="http://schemas.openxmlformats.org/officeDocument/2006/relationships/slide" Target="/ppt/slides/slide1.xml" Id="R8be534ef453f4b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ba42290afc40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4b2f05b51c4a18" /><Relationship Type="http://schemas.openxmlformats.org/officeDocument/2006/relationships/notesMaster" Target="/ppt/notesMasters/notesMaster1.xml" Id="R306b94f3fbb44c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Hi, I am Milton Estuardo Torres Meraz, a software developer in the Persuasive Computing Lab at Dalhousie University. My project, Iron Quest 3D, is a sensor-fusion engine for physical interaction. It combines camera-based pose and dumbbell detection with ESP32 and IMU telemetry, plus Garmin heart-rate context, and converts them into normalized signals such as arm extension, stability and exertion. The current goal is to prove the middleware before building the final game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09c8ffcdb49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c87c55d6c046e6" /><Relationship Type="http://schemas.openxmlformats.org/officeDocument/2006/relationships/slideLayout" Target="/ppt/slideLayouts/slideLayout1.xml" Id="R85b57efe67464d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57efe67464d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fff4264e94f6a" /><Relationship Type="http://schemas.openxmlformats.org/officeDocument/2006/relationships/image" Target="/ppt/media/image.jpeg" Id="Rf2faa746a8054eb2" /><Relationship Type="http://schemas.openxmlformats.org/officeDocument/2006/relationships/notesSlide" Target="/ppt/notesSlides/notesSlide1.xml" Id="R32caf3ca58974e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ab-eyebrow">
            <a:extLst xmlns:a="http://schemas.openxmlformats.org/drawingml/2006/main">
              <a:ext uri="{FF2B5EF4-FFF2-40B4-BE49-F238E27FC236}">
                <a16:creationId xmlns:a16="http://schemas.microsoft.com/office/drawing/2014/main" id="{60EC9EB9-90CE-402A-AB28-13EA5F13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FE3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E3F2"/>
                </a:solidFill>
                <a:latin typeface="Aptos"/>
                <a:ea typeface="Aptos"/>
                <a:cs typeface="Aptos"/>
              </a:rPr>
              <a:t>PERSUASIVE COMPUTING LAB  /  DALHOUSIE UNIVERSITY</a:t>
            </a:r>
          </a:p>
        </p:txBody>
      </p:sp>
      <p:sp>
        <p:nvSpPr>
          <p:cNvPr id="2" name="person-name">
            <a:extLst xmlns:a="http://schemas.openxmlformats.org/drawingml/2006/main">
              <a:ext uri="{FF2B5EF4-FFF2-40B4-BE49-F238E27FC236}">
                <a16:creationId xmlns:a16="http://schemas.microsoft.com/office/drawing/2014/main" id="{9BC7D8E0-AA0D-4BAF-A9DA-EE83ADA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MILTON ESTUARDO TORRES MERAZ</a:t>
            </a:r>
          </a:p>
        </p:txBody>
      </p:sp>
      <p:sp>
        <p:nvSpPr>
          <p:cNvPr id="3" name="person-role">
            <a:extLst xmlns:a="http://schemas.openxmlformats.org/drawingml/2006/main">
              <a:ext uri="{FF2B5EF4-FFF2-40B4-BE49-F238E27FC236}">
                <a16:creationId xmlns:a16="http://schemas.microsoft.com/office/drawing/2014/main" id="{A4E7CE79-7483-44E0-AE17-6BED6DA2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E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A8BEC7"/>
                </a:solidFill>
                <a:latin typeface="Aptos"/>
                <a:ea typeface="Aptos"/>
                <a:cs typeface="Aptos"/>
              </a:rPr>
              <a:t>Software Developer  |  Persuasive Computing Lab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36183E-87E6-4737-98F2-8D12599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67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4C5A"/>
            </a:solidFill>
            <a:prstDash val="solid"/>
          </a:ln>
        </p:spPr>
      </p:sp>
      <p:sp>
        <p:nvSpPr>
          <p:cNvPr id="5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28DACA2E-ADA0-456D-BB41-30B49C58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572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Iron Quest 3D</a:t>
            </a:r>
          </a:p>
        </p:txBody>
      </p:sp>
      <p:sp>
        <p:nvSpPr>
          <p:cNvPr id="6" name="project-takeaway">
            <a:extLst xmlns:a="http://schemas.openxmlformats.org/drawingml/2006/main">
              <a:ext uri="{FF2B5EF4-FFF2-40B4-BE49-F238E27FC236}">
                <a16:creationId xmlns:a16="http://schemas.microsoft.com/office/drawing/2014/main" id="{0F0D711A-13BF-4945-AF79-E86356DA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906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100" b="1">
                <a:solidFill>
                  <a:srgbClr val="4FE3F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FE3F2"/>
                </a:solidFill>
                <a:latin typeface="Aptos"/>
                <a:ea typeface="Aptos"/>
                <a:cs typeface="Aptos"/>
              </a:rPr>
              <a:t>Turns physical movement into research-ready signals.</a:t>
            </a:r>
          </a:p>
        </p:txBody>
      </p:sp>
      <p:sp>
        <p:nvSpPr>
          <p:cNvPr id="7" name="project-description">
            <a:extLst xmlns:a="http://schemas.openxmlformats.org/drawingml/2006/main">
              <a:ext uri="{FF2B5EF4-FFF2-40B4-BE49-F238E27FC236}">
                <a16:creationId xmlns:a16="http://schemas.microsoft.com/office/drawing/2014/main" id="{91F020AA-C63D-4F9F-8B0E-5AB0FAE2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A8BEC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A8BEC7"/>
                </a:solidFill>
                <a:latin typeface="Aptos"/>
                <a:ea typeface="Aptos"/>
                <a:cs typeface="Aptos"/>
              </a:rPr>
              <a:t>A sensor-fusion engine that combines body movement, dumbbells, IMU telemetry and heart-rate context so future interactive applications can understand movement reliably.</a:t>
            </a:r>
          </a:p>
        </p:txBody>
      </p:sp>
      <p:sp>
        <p:nvSpPr>
          <p:cNvPr id="8" name="how-label">
            <a:extLst xmlns:a="http://schemas.openxmlformats.org/drawingml/2006/main">
              <a:ext uri="{FF2B5EF4-FFF2-40B4-BE49-F238E27FC236}">
                <a16:creationId xmlns:a16="http://schemas.microsoft.com/office/drawing/2014/main" id="{DDFC3988-1F09-4804-A045-49B83BB3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9B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9B58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9" name="dot-camera">
            <a:extLst xmlns:a="http://schemas.openxmlformats.org/drawingml/2006/main">
              <a:ext uri="{FF2B5EF4-FFF2-40B4-BE49-F238E27FC236}">
                <a16:creationId xmlns:a16="http://schemas.microsoft.com/office/drawing/2014/main" id="{690EFEDA-C6C4-4BDC-949A-7899B0E0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58"/>
          </a:solidFill>
          <a:ln xmlns:a="http://schemas.openxmlformats.org/drawingml/2006/main" w="0">
            <a:solidFill>
              <a:srgbClr val="FF9B58"/>
            </a:solidFill>
            <a:prstDash val="solid"/>
          </a:ln>
        </p:spPr>
      </p:sp>
      <p:sp>
        <p:nvSpPr>
          <p:cNvPr id="10" name="flow-camera">
            <a:extLst xmlns:a="http://schemas.openxmlformats.org/drawingml/2006/main">
              <a:ext uri="{FF2B5EF4-FFF2-40B4-BE49-F238E27FC236}">
                <a16:creationId xmlns:a16="http://schemas.microsoft.com/office/drawing/2014/main" id="{DA8186E9-FEAD-4B9C-97DE-38C156CE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0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CAMERA + YOLO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120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Pose + dumbbells</a:t>
            </a:r>
          </a:p>
        </p:txBody>
      </p:sp>
      <p:sp>
        <p:nvSpPr>
          <p:cNvPr id="11" name="arrow-one">
            <a:extLst xmlns:a="http://schemas.openxmlformats.org/drawingml/2006/main">
              <a:ext uri="{FF2B5EF4-FFF2-40B4-BE49-F238E27FC236}">
                <a16:creationId xmlns:a16="http://schemas.microsoft.com/office/drawing/2014/main" id="{6E75D90D-33A6-4FF4-B2AF-40EE7116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62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9B5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9B5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dot-imu">
            <a:extLst xmlns:a="http://schemas.openxmlformats.org/drawingml/2006/main">
              <a:ext uri="{FF2B5EF4-FFF2-40B4-BE49-F238E27FC236}">
                <a16:creationId xmlns:a16="http://schemas.microsoft.com/office/drawing/2014/main" id="{EDA8CD7D-3D42-4892-B273-2A193BF0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E3F2"/>
          </a:solidFill>
          <a:ln xmlns:a="http://schemas.openxmlformats.org/drawingml/2006/main" w="0">
            <a:solidFill>
              <a:srgbClr val="4FE3F2"/>
            </a:solidFill>
            <a:prstDash val="solid"/>
          </a:ln>
        </p:spPr>
      </p:sp>
      <p:sp>
        <p:nvSpPr>
          <p:cNvPr id="13" name="flow-imu">
            <a:extLst xmlns:a="http://schemas.openxmlformats.org/drawingml/2006/main">
              <a:ext uri="{FF2B5EF4-FFF2-40B4-BE49-F238E27FC236}">
                <a16:creationId xmlns:a16="http://schemas.microsoft.com/office/drawing/2014/main" id="{2D528FA1-9029-4034-976A-E271B128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28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0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ESP32 + IMU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120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Motion + orientation</a:t>
            </a:r>
          </a:p>
        </p:txBody>
      </p:sp>
      <p:sp>
        <p:nvSpPr>
          <p:cNvPr id="14" name="arrow-two">
            <a:extLst xmlns:a="http://schemas.openxmlformats.org/drawingml/2006/main">
              <a:ext uri="{FF2B5EF4-FFF2-40B4-BE49-F238E27FC236}">
                <a16:creationId xmlns:a16="http://schemas.microsoft.com/office/drawing/2014/main" id="{A219176E-BBF1-4E43-90EA-56022D1B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62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E3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E3F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dot-watch">
            <a:extLst xmlns:a="http://schemas.openxmlformats.org/drawingml/2006/main">
              <a:ext uri="{FF2B5EF4-FFF2-40B4-BE49-F238E27FC236}">
                <a16:creationId xmlns:a16="http://schemas.microsoft.com/office/drawing/2014/main" id="{9BFB8580-19C0-49A5-A9B1-F122F538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E85D"/>
          </a:solidFill>
          <a:ln xmlns:a="http://schemas.openxmlformats.org/drawingml/2006/main" w="0">
            <a:solidFill>
              <a:srgbClr val="B5E85D"/>
            </a:solidFill>
            <a:prstDash val="solid"/>
          </a:ln>
        </p:spPr>
      </p:sp>
      <p:sp>
        <p:nvSpPr>
          <p:cNvPr id="16" name="flow-watch">
            <a:extLst xmlns:a="http://schemas.openxmlformats.org/drawingml/2006/main">
              <a:ext uri="{FF2B5EF4-FFF2-40B4-BE49-F238E27FC236}">
                <a16:creationId xmlns:a16="http://schemas.microsoft.com/office/drawing/2014/main" id="{DA4B050C-88AA-4C46-B319-F227F62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957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0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GARMIN VENU 3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120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Heart-rate context</a:t>
            </a:r>
          </a:p>
        </p:txBody>
      </p:sp>
      <p:sp>
        <p:nvSpPr>
          <p:cNvPr id="17" name="signal-rule">
            <a:extLst xmlns:a="http://schemas.openxmlformats.org/drawingml/2006/main">
              <a:ext uri="{FF2B5EF4-FFF2-40B4-BE49-F238E27FC236}">
                <a16:creationId xmlns:a16="http://schemas.microsoft.com/office/drawing/2014/main" id="{34C2C998-1E02-482E-A4D3-3761FC02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4C5A"/>
            </a:solidFill>
            <a:prstDash val="solid"/>
          </a:ln>
        </p:spPr>
      </p:sp>
      <p:sp>
        <p:nvSpPr>
          <p:cNvPr id="18" name="signal-output">
            <a:extLst xmlns:a="http://schemas.openxmlformats.org/drawingml/2006/main">
              <a:ext uri="{FF2B5EF4-FFF2-40B4-BE49-F238E27FC236}">
                <a16:creationId xmlns:a16="http://schemas.microsoft.com/office/drawing/2014/main" id="{8D6024F8-2157-4C46-945C-05D5DDA1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>
                <a:solidFill>
                  <a:srgbClr val="B5E85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B5E85D"/>
                </a:solidFill>
                <a:latin typeface="Aptos"/>
                <a:ea typeface="Aptos"/>
                <a:cs typeface="Aptos"/>
              </a:rPr>
              <a:t>Normalized JSON / JSONL signals: arm extension, range, symmetry, stability and exertion.</a:t>
            </a:r>
          </a:p>
        </p:txBody>
      </p:sp>
      <p:sp>
        <p:nvSpPr>
          <p:cNvPr id="19" name="focus-panel">
            <a:extLst xmlns:a="http://schemas.openxmlformats.org/drawingml/2006/main">
              <a:ext uri="{FF2B5EF4-FFF2-40B4-BE49-F238E27FC236}">
                <a16:creationId xmlns:a16="http://schemas.microsoft.com/office/drawing/2014/main" id="{F9FE5570-E03F-4F69-B8C2-E3EE8693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5410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2633"/>
          </a:solidFill>
          <a:ln xmlns:a="http://schemas.openxmlformats.org/drawingml/2006/main" w="9525">
            <a:solidFill>
              <a:srgbClr val="1D4C5A"/>
            </a:solidFill>
            <a:prstDash val="solid"/>
          </a:ln>
        </p:spPr>
      </p:sp>
      <p:sp>
        <p:nvSpPr>
          <p:cNvPr id="20" name="focus-label">
            <a:extLst xmlns:a="http://schemas.openxmlformats.org/drawingml/2006/main">
              <a:ext uri="{FF2B5EF4-FFF2-40B4-BE49-F238E27FC236}">
                <a16:creationId xmlns:a16="http://schemas.microsoft.com/office/drawing/2014/main" id="{4D295D33-43B4-4A42-89FE-84467B33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9B5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9B58"/>
                </a:solidFill>
                <a:latin typeface="Aptos"/>
                <a:ea typeface="Aptos"/>
                <a:cs typeface="Aptos"/>
              </a:rPr>
              <a:t>CURRENT FOCUS</a:t>
            </a:r>
          </a:p>
        </p:txBody>
      </p:sp>
      <p:sp>
        <p:nvSpPr>
          <p:cNvPr id="21" name="focus-copy">
            <a:extLst xmlns:a="http://schemas.openxmlformats.org/drawingml/2006/main">
              <a:ext uri="{FF2B5EF4-FFF2-40B4-BE49-F238E27FC236}">
                <a16:creationId xmlns:a16="http://schemas.microsoft.com/office/drawing/2014/main" id="{B51CA74B-A28E-4D30-9FB5-EED083DE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Prove reliable sensor fusion first; the game layer comes next.</a:t>
            </a:r>
          </a:p>
        </p:txBody>
      </p:sp>
      <p:sp>
        <p:nvSpPr>
          <p:cNvPr id="22" name="hero-frame">
            <a:extLst xmlns:a="http://schemas.openxmlformats.org/drawingml/2006/main">
              <a:ext uri="{FF2B5EF4-FFF2-40B4-BE49-F238E27FC236}">
                <a16:creationId xmlns:a16="http://schemas.microsoft.com/office/drawing/2014/main" id="{BCA806CB-FB29-4471-9702-4FA0B98C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"/>
            <a:ext cx="4743450" cy="59626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0D2633"/>
          </a:solidFill>
          <a:ln xmlns:a="http://schemas.openxmlformats.org/drawingml/2006/main" w="9525">
            <a:solidFill>
              <a:srgbClr val="1D4C5A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aa746a8054eb2"/>
          <a:srcRect xmlns:a="http://schemas.openxmlformats.org/drawingml/2006/main" l="43" t="0" r="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457200"/>
            <a:ext cx="4476750" cy="280035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24" name="live-tag">
            <a:extLst xmlns:a="http://schemas.openxmlformats.org/drawingml/2006/main">
              <a:ext uri="{FF2B5EF4-FFF2-40B4-BE49-F238E27FC236}">
                <a16:creationId xmlns:a16="http://schemas.microsoft.com/office/drawing/2014/main" id="{4AA92530-7AA7-4B27-BA7E-681F7C47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09600"/>
            <a:ext cx="1181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9B58"/>
          </a:solidFill>
          <a:ln xmlns:a="http://schemas.openxmlformats.org/drawingml/2006/main" w="0">
            <a:solidFill>
              <a:srgbClr val="FF9B58"/>
            </a:solidFill>
            <a:prstDash val="solid"/>
          </a:ln>
        </p:spPr>
      </p:sp>
      <p:sp>
        <p:nvSpPr>
          <p:cNvPr id="25" name="live-tag-text">
            <a:extLst xmlns:a="http://schemas.openxmlformats.org/drawingml/2006/main">
              <a:ext uri="{FF2B5EF4-FFF2-40B4-BE49-F238E27FC236}">
                <a16:creationId xmlns:a16="http://schemas.microsoft.com/office/drawing/2014/main" id="{438C6F72-E57F-41E5-85C6-4D727F33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667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7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720"/>
                </a:solidFill>
                <a:latin typeface="Aptos"/>
                <a:ea typeface="Aptos"/>
                <a:cs typeface="Aptos"/>
              </a:rPr>
              <a:t>LIVE PROTOTYPE</a:t>
            </a:r>
          </a:p>
        </p:txBody>
      </p:sp>
      <p:sp>
        <p:nvSpPr>
          <p:cNvPr id="2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3C2A94D-B76B-4500-BB92-5FDC2404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76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8FA"/>
                </a:solidFill>
                <a:latin typeface="Aptos"/>
                <a:ea typeface="Aptos"/>
                <a:cs typeface="Aptos"/>
              </a:rPr>
              <a:t>One view, multiple signals</a:t>
            </a:r>
          </a:p>
        </p:txBody>
      </p:sp>
      <p:sp>
        <p:nvSpPr>
          <p:cNvPr id="27" name="visual-copy">
            <a:extLst xmlns:a="http://schemas.openxmlformats.org/drawingml/2006/main">
              <a:ext uri="{FF2B5EF4-FFF2-40B4-BE49-F238E27FC236}">
                <a16:creationId xmlns:a16="http://schemas.microsoft.com/office/drawing/2014/main" id="{D8DD5AC6-B5A7-41CD-9466-F67F196D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67125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A8BEC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8BEC7"/>
                </a:solidFill>
                <a:latin typeface="Aptos"/>
                <a:ea typeface="Aptos"/>
                <a:cs typeface="Aptos"/>
              </a:rPr>
              <a:t>The monitor exposes what the system can already see: posture, object context, sensor status and normalized control axes.</a:t>
            </a:r>
          </a:p>
        </p:txBody>
      </p:sp>
      <p:sp>
        <p:nvSpPr>
          <p:cNvPr id="28" name="visual-rule">
            <a:extLst xmlns:a="http://schemas.openxmlformats.org/drawingml/2006/main">
              <a:ext uri="{FF2B5EF4-FFF2-40B4-BE49-F238E27FC236}">
                <a16:creationId xmlns:a16="http://schemas.microsoft.com/office/drawing/2014/main" id="{F5CBBD15-9B04-4347-AE25-BD04BB61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95825"/>
            <a:ext cx="394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E3F2"/>
            </a:solidFill>
            <a:prstDash val="solid"/>
          </a:ln>
        </p:spPr>
      </p:sp>
      <p:sp>
        <p:nvSpPr>
          <p:cNvPr id="29" name="visual-next">
            <a:extLst xmlns:a="http://schemas.openxmlformats.org/drawingml/2006/main">
              <a:ext uri="{FF2B5EF4-FFF2-40B4-BE49-F238E27FC236}">
                <a16:creationId xmlns:a16="http://schemas.microsoft.com/office/drawing/2014/main" id="{D0678948-0657-44B2-A506-600DE3B4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3962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B5E8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5E85D"/>
                </a:solidFill>
                <a:latin typeface="Aptos"/>
                <a:ea typeface="Aptos"/>
                <a:cs typeface="Aptos"/>
              </a:rPr>
              <a:t>For research analysis now.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B5E8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5E85D"/>
                </a:solidFill>
                <a:latin typeface="Aptos"/>
                <a:ea typeface="Aptos"/>
                <a:cs typeface="Aptos"/>
              </a:rPr>
              <a:t>For adaptive interaction next.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0924A043-7053-4F3D-89E4-EF78F9AC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8BEC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A8BEC7"/>
                </a:solidFill>
                <a:latin typeface="Aptos"/>
                <a:ea typeface="Aptos"/>
                <a:cs typeface="Aptos"/>
              </a:rPr>
              <a:t>ORCID 0009-0005-3217-9935  |  Mexico to Halifax, Canada</a:t>
            </a:r>
          </a:p>
        </p:txBody>
      </p:sp>
      <p:sp>
        <p:nvSpPr>
          <p:cNvPr id="3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F50C86F-0218-4B50-BA96-5C6825E1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47700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FE3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E3F2"/>
                </a:solidFill>
                <a:latin typeface="Aptos"/>
                <a:ea typeface="Aptos"/>
                <a:cs typeface="Aptos"/>
              </a:rPr>
              <a:t>MITACS PROJECT  /  2026</a:t>
            </a:r>
          </a:p>
        </p:txBody>
      </p:sp>
    </p:spTree>
    <p:extLst>
      <p:ext uri="{BB962C8B-B14F-4D97-AF65-F5344CB8AC3E}">
        <p14:creationId xmlns:p14="http://schemas.microsoft.com/office/powerpoint/2010/main" val="2015053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2026-07-19T04:01:46.4400000Z</dcterms:created>
  <dcterms:modified xsi:type="dcterms:W3CDTF">2026-07-19T04:01:46.4400000Z</dcterms:modified>
</coreProperties>
</file>