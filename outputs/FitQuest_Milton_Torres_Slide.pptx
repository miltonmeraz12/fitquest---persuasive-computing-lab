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f62b1ef76f42e6" /><Relationship Type="http://schemas.openxmlformats.org/officeDocument/2006/relationships/extended-properties" Target="/docProps/app.xml" Id="R0fc571608303408f" /><Relationship Type="http://schemas.openxmlformats.org/officeDocument/2006/relationships/officeDocument" Target="/ppt/presentation.xml" Id="R8eb2811d9fe545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4b1398b6f64bfe"/>
  </p:sldMasterIdLst>
  <p:notesMasterIdLst>
    <p:notesMasterId xmlns:r="http://schemas.openxmlformats.org/officeDocument/2006/relationships" r:id="Rf9ed04fcdecb4936"/>
  </p:notesMasterIdLst>
  <p:sldIdLst>
    <p:sldId xmlns:r="http://schemas.openxmlformats.org/officeDocument/2006/relationships" id="256" r:id="Rac6d0cfdd47247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998E2C65-83AD-CCE5-490F-76252A04E853}" name="Gerry Chan" initials="GC" userId="S::gr898083@dal.ca::9119b992-9ac7-48a4-b235-5944685b6162" providerId="AD"/>
  <p188:author id="{6A5C0CAE-D814-F1D4-4D7B-CE30DA365A96}" name="Ravishankar Subramani Iyer" initials="RI" userId="S::rv505461@dal.ca::6a127c5f-1b28-46da-bcc2-1ed112e5b8e5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5474532184c8e" /><Relationship Type="http://schemas.openxmlformats.org/officeDocument/2006/relationships/slideMaster" Target="/ppt/slideMasters/slideMaster1.xml" Id="Red4b1398b6f64bfe" /><Relationship Type="http://schemas.openxmlformats.org/officeDocument/2006/relationships/notesMaster" Target="/ppt/notesMasters/notesMaster1.xml" Id="Rf9ed04fcdecb4936" /><Relationship Type="http://schemas.openxmlformats.org/officeDocument/2006/relationships/presProps" Target="/ppt/presProps.xml" Id="R0860a2f428284a5a" /><Relationship Type="http://schemas.openxmlformats.org/officeDocument/2006/relationships/viewProps" Target="/ppt/viewProps.xml" Id="Rbfeeedf78f4a4a85" /><Relationship Type="http://schemas.openxmlformats.org/officeDocument/2006/relationships/tableStyles" Target="/ppt/tableStyles.xml" Id="Rbda8646c73ed40b6" /><Relationship Type="http://schemas.microsoft.com/office/2018/10/relationships/authors" Target="/ppt/authors.xml" Id="R121e7207b33c4789" /><Relationship Type="http://schemas.openxmlformats.org/officeDocument/2006/relationships/slide" Target="/ppt/slides/slide1.xml" Id="Rac6d0cfdd47247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dbd68b8486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3a881ecdcd4850" /><Relationship Type="http://schemas.openxmlformats.org/officeDocument/2006/relationships/notesMaster" Target="/ppt/notesMasters/notesMaster1.xml" Id="R3631771cdbf840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3a9a723614a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96f6a290b46c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31d4da7d849c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ddf4726624d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7390e55b2438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f658eeac4b44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5cca94e9b4c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033bd3a31242f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7ed1f1e4c2462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a3752b04c49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69f9ca53247a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a629bd41f243c0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EA2AC7-6E51-DA7E-3DAF-07BBD05912C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8DF301D-5D66-FB6E-1097-0AA8D821FB8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5B9681B-CF55-1A2F-6B32-FA58884F28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595EC0-B398-2349-3F34-72CB96803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49B4FF-ECF6-30D2-071E-DD5C652495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105303-7313-447E-B1C6-1BC8E64E9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C1B82F-4062-4BBA-EB4B-C77874A239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09842CA-6498-B382-FD6E-63E608D3AD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759123-9542-4C10-33DF-F2CEFD44F3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FBD11-1BBF-D0A4-AF22-8C68F7962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03C34C-D62E-A81B-209C-E96BF896DE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5E781F-2906-319F-A89E-6C591E9952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7550DD-E927-C433-6E8E-D4ACE2EFE2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3921A3-2C7B-7F8F-D938-06F6D2ED08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23C65D-A6B8-36DA-B7E9-D50803FA08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35AF25-0ACF-4F55-FBE8-CC42879219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C176BC-0412-6748-CBF2-B1549EAA0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E22582-9D31-B101-51E8-8D2CAABB7A9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A0C8E2-7365-ABD2-5BB4-2A8B1DEC0F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869164A-13D4-4F1B-B47F-836788928B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A9B165A-E17C-7EB0-C609-E085CF1D4B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AC9820-1967-2C45-3989-043216962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58C1FA-379A-064B-FCC8-3C657D2B62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B31E05E-B084-F05B-0870-65B0BBEFD4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33B664B-55EB-5311-5077-6DC3E8ABE1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A221A91-A7AB-A6FD-C7FA-45AE411E1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2724B100-50B2-7585-9300-47957916FF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33BD615-B6D5-DE56-8F7D-900564F34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D5B1518-8187-4A82-FBAB-3D6D432C44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9BED29-2364-A9FC-FC27-D528A2BAB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EA7956F-16B8-D4E7-9698-88ED0BB728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D75EDD0-DC7E-7380-405B-9E33469FE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4A46604-BD42-EE83-1297-2581B5367A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429CE14-7048-CDBA-07D9-2D05714E97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81BB49-78F8-4BEA-04E0-CFDC1BE824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9D03E77-780C-9D9E-B1CC-EDDBDCC8F1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B4C8D1-F812-DD9B-A3B5-FBA8276B21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2443CAA-B2EF-7DD2-4453-A93858DC182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F9EE5A8-2F33-FAC2-C7EF-23A9E0C04E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07CE9B-C887-9676-EB0F-AF5E1CE7CC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3D28B29-FB65-25D4-CE33-EFF5B0ADF6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74986D-F647-C3C0-3C52-447DDF271F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D77815-15C3-204E-5AC9-AFFCCA50B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D427276-1774-7B2F-F214-AD981ABB430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88D216D-0886-3FE5-8FAB-446F5371935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D1ED8F2-E14A-B996-44F4-104DE1CBA8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7DFAF6-ADB6-0EC7-6CC3-D5BA545FA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8E4CFD3-D867-4F35-A0EE-C11B4A3288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3B98689-EFBF-AB4E-2739-D19D3CDE2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AD79934-0C2C-5B7F-91FE-41031FBE7B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5EEF61-527D-E12B-5647-7483FAD0F7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A8E618-7D22-6474-84A7-E3AB67564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DF2E44-7298-136D-95A4-8ADC3B1BF0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F4422D-4172-4FD7-5486-E2C717A63F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39C734-C49B-FCFA-E223-ECA221CA2E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9C45FDA-E3F4-28EA-4A5F-F17A8BCC84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595C2C-973F-35FC-9FF3-A6999DB232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206BF31-F736-789C-0379-E309085BF6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e58cd0a43a4b3b" /><Relationship Type="http://schemas.openxmlformats.org/officeDocument/2006/relationships/slideLayout" Target="/ppt/slideLayouts/slideLayout1.xml" Id="R37ee9c0d7e9c4890" /><Relationship Type="http://schemas.openxmlformats.org/officeDocument/2006/relationships/slideLayout" Target="/ppt/slideLayouts/slideLayout2.xml" Id="Rb3c8876bc7ad4c5b" /><Relationship Type="http://schemas.openxmlformats.org/officeDocument/2006/relationships/slideLayout" Target="/ppt/slideLayouts/slideLayout3.xml" Id="R5dbe1307de4a400c" /><Relationship Type="http://schemas.openxmlformats.org/officeDocument/2006/relationships/slideLayout" Target="/ppt/slideLayouts/slideLayout4.xml" Id="R536d4880ec0d4628" /><Relationship Type="http://schemas.openxmlformats.org/officeDocument/2006/relationships/slideLayout" Target="/ppt/slideLayouts/slideLayout5.xml" Id="Rf53f4972cbac448c" /><Relationship Type="http://schemas.openxmlformats.org/officeDocument/2006/relationships/slideLayout" Target="/ppt/slideLayouts/slideLayout6.xml" Id="R9425a1db6a6441e3" /><Relationship Type="http://schemas.openxmlformats.org/officeDocument/2006/relationships/slideLayout" Target="/ppt/slideLayouts/slideLayout7.xml" Id="R0c7d05b71c5a4ada" /><Relationship Type="http://schemas.openxmlformats.org/officeDocument/2006/relationships/slideLayout" Target="/ppt/slideLayouts/slideLayout8.xml" Id="Rca1fe399cc9147cc" /><Relationship Type="http://schemas.openxmlformats.org/officeDocument/2006/relationships/slideLayout" Target="/ppt/slideLayouts/slideLayout9.xml" Id="R72618a5f67034df6" /><Relationship Type="http://schemas.openxmlformats.org/officeDocument/2006/relationships/slideLayout" Target="/ppt/slideLayouts/slideLayout10.xml" Id="Rd0a2d0cf7d6b416d" /><Relationship Type="http://schemas.openxmlformats.org/officeDocument/2006/relationships/slideLayout" Target="/ppt/slideLayouts/slideLayout11.xml" Id="Rc2862663dbd24eb9" /><Relationship Type="http://schemas.openxmlformats.org/officeDocument/2006/relationships/slideLayout" Target="/ppt/slideLayouts/slideLayout12.xml" Id="R64a553a5f1b14db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1C4F31F-D59A-7F86-234E-6FF1811350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C0F573-F82A-BB04-EBE0-10BFAC5DD5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545840-9A81-9E3C-A44E-FDC5C8A44EE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51C3A533-6DA5-A448-9BE1-2FF4B4C585D4}" type="datetimeFigureOut">
              <a:t>7/18/2026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8F5A3CF-81CB-4D2D-67F0-68A423706E0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61121F-A5D9-CE87-C88E-45E1C451DA8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219DA28F-E6F0-4C4C-B515-1EC9FAC4CFC1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e9c0d7e9c4890"/>
    <p:sldLayoutId xmlns:r="http://schemas.openxmlformats.org/officeDocument/2006/relationships" id="2147483650" r:id="Rb3c8876bc7ad4c5b"/>
    <p:sldLayoutId xmlns:r="http://schemas.openxmlformats.org/officeDocument/2006/relationships" id="2147483651" r:id="R5dbe1307de4a400c"/>
    <p:sldLayoutId xmlns:r="http://schemas.openxmlformats.org/officeDocument/2006/relationships" id="2147483652" r:id="R536d4880ec0d4628"/>
    <p:sldLayoutId xmlns:r="http://schemas.openxmlformats.org/officeDocument/2006/relationships" id="2147483653" r:id="Rf53f4972cbac448c"/>
    <p:sldLayoutId xmlns:r="http://schemas.openxmlformats.org/officeDocument/2006/relationships" id="2147483654" r:id="R9425a1db6a6441e3"/>
    <p:sldLayoutId xmlns:r="http://schemas.openxmlformats.org/officeDocument/2006/relationships" id="2147483655" r:id="R0c7d05b71c5a4ada"/>
    <p:sldLayoutId xmlns:r="http://schemas.openxmlformats.org/officeDocument/2006/relationships" id="2147483656" r:id="Rca1fe399cc9147cc"/>
    <p:sldLayoutId xmlns:r="http://schemas.openxmlformats.org/officeDocument/2006/relationships" id="2147483657" r:id="R72618a5f67034df6"/>
    <p:sldLayoutId xmlns:r="http://schemas.openxmlformats.org/officeDocument/2006/relationships" id="2147483658" r:id="Rd0a2d0cf7d6b416d"/>
    <p:sldLayoutId xmlns:r="http://schemas.openxmlformats.org/officeDocument/2006/relationships" id="2147483659" r:id="Rc2862663dbd24eb9"/>
    <p:sldLayoutId xmlns:r="http://schemas.openxmlformats.org/officeDocument/2006/relationships" id="2147483660" r:id="R64a553a5f1b14db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84c57ef0774077" /><Relationship Type="http://schemas.openxmlformats.org/officeDocument/2006/relationships/image" Target="/ppt/media/image.png" Id="R956a808249ef4ab1" /><Relationship Type="http://schemas.openxmlformats.org/officeDocument/2006/relationships/image" Target="/ppt/media/image.jpeg" Id="Rb0b93f242e0d4980" /><Relationship Type="http://schemas.openxmlformats.org/officeDocument/2006/relationships/image" Target="/ppt/media/image2.jpeg" Id="R6dfd340a3f554ead" /><Relationship Type="http://schemas.openxmlformats.org/officeDocument/2006/relationships/image" Target="/ppt/media/image2.png" Id="R8e3949350bfb4b39" /><Relationship Type="http://schemas.openxmlformats.org/officeDocument/2006/relationships/notesSlide" Target="/ppt/notesSlides/notesSlide1.xml" Id="R447aa6e6a1a94e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a808249ef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88402" y="215941"/>
            <a:ext cx="1798319" cy="537666"/>
          </a:xfrm>
          <a:prstGeom xmlns:a="http://schemas.openxmlformats.org/drawingml/2006/main" prst="rect">
            <a:avLst/>
          </a:prstGeom>
        </p:spPr>
      </p:pic>
      <p:pic>
        <p:nvPicPr>
          <p:cNvPr id="4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93f242e0d4980"/>
          <a:srcRect xmlns:a="http://schemas.openxmlformats.org/drawingml/2006/main" l="16182" t="0" r="161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4325" y="1076325"/>
            <a:ext cx="2362200" cy="2619375"/>
          </a:xfrm>
          <a:prstGeom xmlns:a="http://schemas.openxmlformats.org/drawingml/2006/main" prst="roundRect">
            <a:avLst>
              <a:gd name="adj" fmla="val 6452"/>
            </a:avLst>
          </a:prstGeom>
          <a:ln xmlns:a="http://schemas.openxmlformats.org/drawingml/2006/main">
            <a:noFill/>
          </a:ln>
          <a:effectLst xmlns:a="http://schemas.openxmlformats.org/drawingml/2006/main">
            <a:softEdge rad="112500"/>
          </a:effectLst>
        </p:spPr>
      </p:pic>
      <p:pic>
        <p:nvPicPr>
          <p:cNvPr id="4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d340a3f554e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4765" y="88459"/>
            <a:ext cx="942952" cy="805543"/>
          </a:xfrm>
          <a:prstGeom xmlns:a="http://schemas.openxmlformats.org/drawingml/2006/main" prst="rect">
            <a:avLst/>
          </a:prstGeom>
        </p:spPr>
      </p:pic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22172F2-D2E9-5C6F-9D1B-557C267E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81100"/>
            <a:ext cx="2800350" cy="52197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rot="0" spcFirstLastPara="0" vert="horz" wrap="square" lIns="15240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Problem Statement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Current interactive systems struggle to model physical movement reliably across heterogeneous sensors.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Vision-only and isolated wearable approaches lack synchronized, standardized signals.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This limits accurate analysis of posture, load symmetry, and physical exertion.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DC0BDA3-C3F1-FE87-CFCC-81709D3C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181100"/>
            <a:ext cx="2800350" cy="52197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rot="0" spcFirstLastPara="0" vert="horz" wrap="square" lIns="15240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Methodology &amp; Tech Stack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Camera + YOLO: Body-pose estimation and object detection.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ESP32 + IMU: Precise motion, orientation, and stability telemetry.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Garmin Venu 3: Real-time heart-rate and physiological context.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Pipeline: Synchronizes and exports normalized JSON/JSONL features.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C8C983-A824-544C-B14D-BFEE66DE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181100"/>
            <a:ext cx="2800350" cy="521970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rot="0" spcFirstLastPara="0" vert="horz" wrap="square" lIns="152400" tIns="152400" rIns="1333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Expected Outcomes &amp; Impact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Produces reusable signals for arm extension, range, symmetry, and exertion.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Provides consistent, frame-level data for rigorous HCI evaluation.</a:t>
            </a:r>
          </a:p>
          <a:p xmlns:a="http://schemas.openxmlformats.org/drawingml/2006/main">
            <a:pPr marL="22" indent="-12">
              <a:spcAft>
                <a:spcPts val="8"/>
              </a:spcAft>
              <a:buChar char="•"/>
              <a:defRPr sz="1050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1050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Establishes a middleware foundation for adaptive, assistive, and rehabilitation systems.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B15B539-5C2E-E89E-0C95-4F9901B6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829050"/>
            <a:ext cx="2524125" cy="2712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Name: </a:t>
            </a: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Milton Torres</a:t>
            </a:r>
          </a:p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Program: </a:t>
            </a: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Mitacs Globalink Research Intern</a:t>
            </a:r>
          </a:p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Origin: </a:t>
            </a: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Mexico</a:t>
            </a:r>
          </a:p>
          <a:p xmlns:a="http://schemas.openxmlformats.org/drawingml/2006/main">
            <a:pPr>
              <a:spcBef>
                <a:spcPts val="8"/>
              </a:spcBef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 b="1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Supervisors</a:t>
            </a:r>
          </a:p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Dr. Rita Orji</a:t>
            </a:r>
          </a:p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Dr. Fidelia Orji</a:t>
            </a:r>
          </a:p>
          <a:p xmlns:a="http://schemas.openxmlformats.org/drawingml/2006/main">
            <a:pPr>
              <a:defRPr sz="975">
                <a:solidFill>
                  <a:srgbClr val="1A202C"/>
                </a:solidFill>
                <a:latin typeface="Segoe UI"/>
                <a:ea typeface="Segoe UI"/>
                <a:cs typeface="Segoe UI"/>
              </a:defRPr>
            </a:pPr>
            <a:r>
              <a:rPr sz="975">
                <a:solidFill>
                  <a:srgbClr val="1A202C"/>
                </a:solidFill>
                <a:latin typeface="Segoe UI"/>
                <a:ea typeface="Segoe UI"/>
                <a:cs typeface="Segoe UI"/>
              </a:rPr>
              <a:t>Dr. Grace Ataguba</a:t>
            </a:r>
          </a:p>
        </p:txBody>
      </p:sp>
      <p:sp>
        <p:nvSpPr>
          <p:cNvPr id="14" name="Title 13">
            <a:extLst xmlns:a="http://schemas.openxmlformats.org/drawingml/2006/main">
              <a:ext uri="{FF2B5EF4-FFF2-40B4-BE49-F238E27FC236}">
                <a16:creationId xmlns:a16="http://schemas.microsoft.com/office/drawing/2014/main" id="{39038E38-6125-F75C-8508-9DC11EE8D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76350" y="323850"/>
            <a:ext cx="8572500" cy="571500"/>
          </a:xfr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FitQuest: Sensor-Fusion Engine for Physical Interaction</a:t>
            </a:r>
          </a:p>
        </p:txBody>
      </p:sp>
      <p:sp>
        <p:nvSpPr>
          <p:cNvPr id="17" name="Shape 46">
            <a:extLst xmlns:a="http://schemas.openxmlformats.org/drawingml/2006/main">
              <a:ext uri="{FF2B5EF4-FFF2-40B4-BE49-F238E27FC236}">
                <a16:creationId xmlns:a16="http://schemas.microsoft.com/office/drawing/2014/main" id="{F96F9178-BD0D-A7A8-CEB3-F2FBC189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9831" y="980439"/>
            <a:ext cx="11720602" cy="393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cxnSp>
        <p:nvCxnSpPr>
          <p:cNvPr id="49" name="Straight Arrow Connector 17"/>
          <p:cNvCxnSpPr/>
          <p:nvPr/>
        </p:nvCxnSpPr>
        <p:spPr>
          <a:xfrm xmlns:a="http://schemas.openxmlformats.org/drawingml/2006/main">
            <a:off x="238125" y="5581650"/>
            <a:ext cx="2381250" cy="1143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0" name="Straight Arrow Connector 18"/>
          <p:cNvCxnSpPr/>
          <p:nvPr/>
        </p:nvCxnSpPr>
        <p:spPr>
          <a:xfrm xmlns:a="http://schemas.openxmlformats.org/drawingml/2006/main">
            <a:off x="238125" y="3771900"/>
            <a:ext cx="2381250" cy="1143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3949350bfb4b39"/>
          <a:stretch xmlns:a="http://schemas.openxmlformats.org/drawingml/2006/main"/>
        </p:blipFill>
        <p:spPr>
          <a:xfrm xmlns:a="http://schemas.openxmlformats.org/drawingml/2006/main">
            <a:off x="304800" y="56578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9" name="Milton contact QR label">
            <a:extLst xmlns:a="http://schemas.openxmlformats.org/drawingml/2006/main">
              <a:ext uri="{FF2B5EF4-FFF2-40B4-BE49-F238E27FC236}">
                <a16:creationId xmlns:a16="http://schemas.microsoft.com/office/drawing/2014/main" id="{5DD904A6-F02A-4B19-A451-42300F64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81675"/>
            <a:ext cx="142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 b="1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Scan for email</a:t>
            </a:r>
          </a:p>
          <a:p xmlns:a="http://schemas.openxmlformats.org/drawingml/2006/main">
            <a:pPr>
              <a:defRPr sz="825">
                <a:solidFill>
                  <a:srgbClr val="64748B"/>
                </a:solidFill>
                <a:latin typeface="Segoe UI"/>
                <a:ea typeface="Segoe UI"/>
                <a:cs typeface="Segoe UI"/>
              </a:defRPr>
            </a:pPr>
            <a:r>
              <a:rPr sz="825">
                <a:solidFill>
                  <a:srgbClr val="64748B"/>
                </a:solidFill>
                <a:latin typeface="Segoe UI"/>
                <a:ea typeface="Segoe UI"/>
                <a:cs typeface="Segoe UI"/>
              </a:rPr>
              <a:t>milton.meraz@dal.ca</a:t>
            </a:r>
          </a:p>
        </p:txBody>
      </p:sp>
    </p:spTree>
    <p:extLst>
      <p:ext uri="{BB962C8B-B14F-4D97-AF65-F5344CB8AC3E}">
        <p14:creationId xmlns:p14="http://schemas.microsoft.com/office/powerpoint/2010/main" val="40041233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2026-07-19T05:09:05.2360000Z</dcterms:created>
  <dcterms:modified xsi:type="dcterms:W3CDTF">2026-07-19T05:09:05.2360000Z</dcterms:modified>
</coreProperties>
</file>