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EF73F-3DE9-4C58-B295-F808760B3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EB2BE-6383-437F-BC03-9192A0BEC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FFC2D-168D-43E6-A35C-B0629AD35B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95F65-FE27-4AB1-9B90-A86095C181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112BB-CCA3-415E-9D32-6FF353D585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16FEC-DC06-4AB6-9E4F-180F0F97B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446C8-596A-4038-98A3-A28908F68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316DD-0EFA-4261-AC68-02D07BE764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FC8E4-ADC0-4FF0-B083-FF4374E9D2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1050E-C56F-48D2-8C4E-211DEA2A97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B425D-E591-4654-B377-0D01FFF1D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7FEE2-06FF-44DE-86B3-FCD4ECEA8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B735D-4CC9-4899-A9CF-7A7594A0C3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C92C8-143E-4F8D-9FE4-4AFA9DAE3F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BEEBD-EFEF-4507-A69D-F39068177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28FDB-F37C-4915-B3B0-A454AA30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1113C-BD2B-4118-894F-DE64F86C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F9F08-2162-4952-B1F7-054889E414A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E664A-1A51-4E6F-835F-5334735B39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F2CA7-5EBC-4759-845D-F38F19FB0B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EE082-E31B-48FB-B895-767B784034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060D2-BA6B-4CB8-8D37-825C9D11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26889-2CED-47DB-8A7D-2C3D94050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DD1C4-DF9C-4B3E-A526-60FBECB364B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78E21A-9C30-40CD-A2F4-73B65E6988C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58A701-D633-4C99-9BB1-51D37BD74B4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B7D6D-0A32-4CF8-843E-3A3ADB0DA6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95000-2AB3-48A1-99E3-560D62C9B4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59F1B7-8458-4EAB-B5BB-EDA29CBAA3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BF5D-3EF5-445B-8C2F-326A7E11E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174217-2D4B-4B40-BDF1-7202065772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B978E-22D3-4396-8DF6-0EC62B21E98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91D38-1BE3-4CDB-857E-B99136E10E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F7A22-84B6-4FB7-956D-3A2FA5FC79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B6E15-1BF4-4BF2-9785-E1FC2AC5F0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8D246-D805-4309-A8EF-4B8F4046E1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23B85-69D3-4309-BDA8-423AE6909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7518F-5363-4F24-AF74-9CA3EAC1D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0B86A-D203-4794-A990-EDC8E4BEB85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01B78-E24E-4353-A900-FA2010EDDE1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CD3F2-A483-4108-96B1-31C9D77B75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19E7B-E1B7-4C6E-8252-37527B51A1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FF0A-EA68-445B-A631-BF193256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540844-0B57-4F1B-BF66-C0AA9BFFC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8904E-4C19-411F-8FAD-B03AD1C3A8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C01BB-99A0-4316-B8F8-E0BFE42E76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6DB56-CE51-4B96-AE8B-378E470311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546C6-1533-4AA0-A0D3-4229EC8C7B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D28B-3EA5-420A-BFC8-F09EA9C70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C6565-D36C-4BEC-A966-7F92ED386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8AF31-B134-42C1-BEDD-432D7EBF67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AD4F4-6319-43D0-88D6-91C81230FB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F5D96-1918-4A32-B02A-8297AD965D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27982E-2F40-4323-A725-B942911BD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330F1-D84C-4119-8974-4CC1A69B1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6BE07-9835-4D04-8A8A-8213C2E827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F38E5-B5CF-4444-8C98-7CD2749087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45339-FAE0-45D3-A7E0-741536939D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8EE89-BAA5-4FE6-A338-6FA6A74EC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7B80-538C-4F0B-AF33-3D1EA088E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52DCC-ADC7-4B0E-B9AF-F46D20D18BE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7/19/2026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C0AF3-456F-4C92-BF55-F5E08B3E6E5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F6C7E-3F6A-450C-845C-4A10FAF04C0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0.jpeg"/><Relationship Id="rId18" Type="http://schemas.openxmlformats.org/officeDocument/2006/relationships/image" Target="../media/image15.png"/><Relationship Id="rId26" Type="http://schemas.openxmlformats.org/officeDocument/2006/relationships/image" Target="../media/image21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hyperlink" Target="mailto:Milton.tm2003@gmail.com" TargetMode="Externa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24" Type="http://schemas.openxmlformats.org/officeDocument/2006/relationships/hyperlink" Target="mailto:milton.meraz@dal.ca" TargetMode="External"/><Relationship Id="rId5" Type="http://schemas.openxmlformats.org/officeDocument/2006/relationships/image" Target="../media/image3.png"/><Relationship Id="rId15" Type="http://schemas.openxmlformats.org/officeDocument/2006/relationships/image" Target="../media/image12.jpeg"/><Relationship Id="rId23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9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899046"/>
          </a:xfrm>
          <a:prstGeom prst="rect">
            <a:avLst/>
          </a:prstGeom>
        </p:spPr>
      </p:pic>
      <p:pic>
        <p:nvPicPr>
          <p:cNvPr id="80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98999"/>
            <a:ext cx="12192000" cy="4959001"/>
          </a:xfrm>
          <a:prstGeom prst="rect">
            <a:avLst/>
          </a:prstGeom>
        </p:spPr>
      </p:pic>
      <p:pic>
        <p:nvPicPr>
          <p:cNvPr id="81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2184749"/>
            <a:ext cx="2857500" cy="4673251"/>
          </a:xfrm>
          <a:prstGeom prst="rect">
            <a:avLst/>
          </a:prstGeom>
        </p:spPr>
      </p:pic>
      <p:pic>
        <p:nvPicPr>
          <p:cNvPr id="82" name="Picture 5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4675" y="2253376"/>
            <a:ext cx="1560195" cy="1560195"/>
          </a:xfrm>
          <a:prstGeom prst="rect">
            <a:avLst/>
          </a:prstGeom>
        </p:spPr>
      </p:pic>
      <p:pic>
        <p:nvPicPr>
          <p:cNvPr id="83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4318396"/>
            <a:ext cx="1752600" cy="238125"/>
          </a:xfrm>
          <a:prstGeom prst="rect">
            <a:avLst/>
          </a:prstGeom>
        </p:spPr>
      </p:pic>
      <p:pic>
        <p:nvPicPr>
          <p:cNvPr id="84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4750" y="2184749"/>
            <a:ext cx="2508218" cy="4673251"/>
          </a:xfrm>
          <a:prstGeom prst="rect">
            <a:avLst/>
          </a:prstGeom>
        </p:spPr>
      </p:pic>
      <p:pic>
        <p:nvPicPr>
          <p:cNvPr id="85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1093" y="2184749"/>
            <a:ext cx="2508218" cy="4673251"/>
          </a:xfrm>
          <a:prstGeom prst="rect">
            <a:avLst/>
          </a:prstGeom>
        </p:spPr>
      </p:pic>
      <p:pic>
        <p:nvPicPr>
          <p:cNvPr id="8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7437" y="2184749"/>
            <a:ext cx="2508313" cy="46732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A4C88C-B150-4E7D-8304-73192DF89C25}"/>
              </a:ext>
            </a:extLst>
          </p:cNvPr>
          <p:cNvSpPr>
            <a:spLocks noGrp="1"/>
          </p:cNvSpPr>
          <p:nvPr/>
        </p:nvSpPr>
        <p:spPr>
          <a:xfrm>
            <a:off x="742950" y="381000"/>
            <a:ext cx="772096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0" i="0" u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</a:rPr>
              <a:t>PERSUASIVE COMPUTING LAB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7F281E-0B3A-48D6-882E-BB91BCE5D7F0}"/>
              </a:ext>
            </a:extLst>
          </p:cNvPr>
          <p:cNvSpPr>
            <a:spLocks noGrp="1"/>
          </p:cNvSpPr>
          <p:nvPr/>
        </p:nvSpPr>
        <p:spPr>
          <a:xfrm>
            <a:off x="476250" y="647700"/>
            <a:ext cx="8001000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  <a:buNone/>
            </a:pPr>
            <a:r>
              <a:rPr sz="3450" b="1" i="0" u="none" dirty="0" err="1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</a:rPr>
              <a:t>FitQuest</a:t>
            </a:r>
            <a:r>
              <a:rPr sz="3450" b="1" i="0" u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</a:rPr>
              <a:t>: </a:t>
            </a:r>
            <a:r>
              <a:rPr lang="en-US" sz="3450" b="1" i="0" u="none" dirty="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</a:rPr>
              <a:t>Smart Dumbbell Fitness Gaming Platform</a:t>
            </a:r>
            <a:endParaRPr sz="3450" b="1" i="0" u="none" dirty="0">
              <a:solidFill>
                <a:srgbClr val="0F172A"/>
              </a:solidFill>
              <a:latin typeface="Playfair Display"/>
              <a:ea typeface="Playfair Display"/>
              <a:cs typeface="Playfair Display"/>
            </a:endParaRPr>
          </a:p>
        </p:txBody>
      </p:sp>
      <p:pic>
        <p:nvPicPr>
          <p:cNvPr id="89" name="Picture 12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8929389" y="282552"/>
            <a:ext cx="1051321" cy="10513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CA2FAA6-F178-4A1C-9880-06F4BBAE407A}"/>
              </a:ext>
            </a:extLst>
          </p:cNvPr>
          <p:cNvSpPr>
            <a:spLocks noGrp="1"/>
          </p:cNvSpPr>
          <p:nvPr/>
        </p:nvSpPr>
        <p:spPr>
          <a:xfrm>
            <a:off x="1124902" y="4004071"/>
            <a:ext cx="156019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800" b="1" i="0" u="none">
                <a:solidFill>
                  <a:srgbClr val="0F172A"/>
                </a:solidFill>
                <a:latin typeface="Inter"/>
                <a:ea typeface="Inter"/>
                <a:cs typeface="Inter"/>
              </a:rPr>
              <a:t>Milton Torres</a:t>
            </a:r>
          </a:p>
        </p:txBody>
      </p:sp>
      <p:pic>
        <p:nvPicPr>
          <p:cNvPr id="92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250" y="400050"/>
            <a:ext cx="171450" cy="152400"/>
          </a:xfrm>
          <a:prstGeom prst="rect">
            <a:avLst/>
          </a:prstGeom>
        </p:spPr>
      </p:pic>
      <p:pic>
        <p:nvPicPr>
          <p:cNvPr id="93" name="Picture 16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1161134" y="2280617"/>
            <a:ext cx="1471041" cy="1471041"/>
          </a:xfrm>
          <a:prstGeom prst="ellipse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BE9550D-EE32-4F80-A1B7-422698243FED}"/>
              </a:ext>
            </a:extLst>
          </p:cNvPr>
          <p:cNvSpPr>
            <a:spLocks noGrp="1"/>
          </p:cNvSpPr>
          <p:nvPr/>
        </p:nvSpPr>
        <p:spPr>
          <a:xfrm>
            <a:off x="933450" y="4747021"/>
            <a:ext cx="2152650" cy="1869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  <a:buNone/>
            </a:pPr>
            <a:r>
              <a:rPr sz="975" b="1" i="0" u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</a:rPr>
              <a:t>Origin:</a:t>
            </a:r>
            <a:r>
              <a:rPr sz="975" b="1" i="0" u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</a:t>
            </a:r>
            <a:r>
              <a:rPr sz="975" b="0" i="0" u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Mexico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CE7C2-E8D0-4FF0-B883-C992F9B88F53}"/>
              </a:ext>
            </a:extLst>
          </p:cNvPr>
          <p:cNvSpPr>
            <a:spLocks noGrp="1"/>
          </p:cNvSpPr>
          <p:nvPr/>
        </p:nvSpPr>
        <p:spPr>
          <a:xfrm>
            <a:off x="933450" y="5040362"/>
            <a:ext cx="2152650" cy="802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  <a:buNone/>
            </a:pPr>
            <a:r>
              <a:rPr sz="975" b="1" i="0" u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</a:rPr>
              <a:t>Supervisors:</a:t>
            </a:r>
            <a:br>
              <a:rPr dirty="0"/>
            </a:br>
            <a:r>
              <a:rPr sz="975" b="0" i="0" u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Dr. Rita Orji</a:t>
            </a:r>
            <a:br>
              <a:rPr dirty="0"/>
            </a:br>
            <a:r>
              <a:rPr sz="975" b="0" i="0" u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Dr. Fidelia Orji</a:t>
            </a:r>
            <a:br>
              <a:rPr dirty="0"/>
            </a:br>
            <a:r>
              <a:rPr sz="975" b="0" i="0" u="none" dirty="0">
                <a:solidFill>
                  <a:srgbClr val="475569"/>
                </a:solidFill>
                <a:latin typeface="Inter"/>
                <a:ea typeface="Inter"/>
                <a:cs typeface="Inter"/>
              </a:rPr>
              <a:t> Dr. Grace </a:t>
            </a:r>
            <a:r>
              <a:rPr sz="975" b="0" i="0" u="none" dirty="0" err="1">
                <a:solidFill>
                  <a:srgbClr val="475569"/>
                </a:solidFill>
                <a:latin typeface="Inter"/>
                <a:ea typeface="Inter"/>
                <a:cs typeface="Inter"/>
              </a:rPr>
              <a:t>Ataguba</a:t>
            </a:r>
            <a:endParaRPr sz="975" b="0" i="0" u="none" dirty="0">
              <a:solidFill>
                <a:srgbClr val="475569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484C7B-83C4-4C5C-A3C2-0FF15DDE8F86}"/>
              </a:ext>
            </a:extLst>
          </p:cNvPr>
          <p:cNvSpPr>
            <a:spLocks noGrp="1"/>
          </p:cNvSpPr>
          <p:nvPr/>
        </p:nvSpPr>
        <p:spPr>
          <a:xfrm>
            <a:off x="933450" y="5905500"/>
            <a:ext cx="1381125" cy="495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defRPr sz="825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lang="en-US" sz="900" b="1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</a:rPr>
              <a:t>ORCID:</a:t>
            </a:r>
          </a:p>
          <a:p>
            <a:pPr>
              <a:defRPr sz="825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lang="en-US" sz="825" dirty="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0009-0005-3217-9935</a:t>
            </a:r>
            <a:endParaRPr sz="825" dirty="0">
              <a:solidFill>
                <a:srgbClr val="475569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99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62400" y="2508646"/>
            <a:ext cx="457200" cy="4572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81DC925-37D7-4082-AAAE-6387B040E71D}"/>
              </a:ext>
            </a:extLst>
          </p:cNvPr>
          <p:cNvSpPr>
            <a:spLocks noGrp="1"/>
          </p:cNvSpPr>
          <p:nvPr/>
        </p:nvSpPr>
        <p:spPr>
          <a:xfrm>
            <a:off x="3962400" y="3156346"/>
            <a:ext cx="211354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 u="none" dirty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Problem Statement</a:t>
            </a:r>
          </a:p>
        </p:txBody>
      </p:sp>
      <p:pic>
        <p:nvPicPr>
          <p:cNvPr id="101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08725" y="2508646"/>
            <a:ext cx="457200" cy="4572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52ED13E-22C6-47C8-A971-C9E4421B0881}"/>
              </a:ext>
            </a:extLst>
          </p:cNvPr>
          <p:cNvSpPr>
            <a:spLocks noGrp="1"/>
          </p:cNvSpPr>
          <p:nvPr/>
        </p:nvSpPr>
        <p:spPr>
          <a:xfrm>
            <a:off x="6708725" y="3156346"/>
            <a:ext cx="211354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 u="none" dirty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Methodology &amp; Tech Stack</a:t>
            </a:r>
          </a:p>
        </p:txBody>
      </p:sp>
      <p:pic>
        <p:nvPicPr>
          <p:cNvPr id="103" name="Picture 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55050" y="2508646"/>
            <a:ext cx="457200" cy="4572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6594FDE-C192-44C1-AFB7-967BBF91987C}"/>
              </a:ext>
            </a:extLst>
          </p:cNvPr>
          <p:cNvSpPr>
            <a:spLocks noGrp="1"/>
          </p:cNvSpPr>
          <p:nvPr/>
        </p:nvSpPr>
        <p:spPr>
          <a:xfrm>
            <a:off x="9455050" y="3156346"/>
            <a:ext cx="211370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1" i="0" u="none" dirty="0">
                <a:solidFill>
                  <a:srgbClr val="0F172A"/>
                </a:solidFill>
                <a:latin typeface="Inter"/>
                <a:ea typeface="Inter"/>
                <a:cs typeface="Inter"/>
              </a:rPr>
              <a:t>Expected Outcomes &amp; Impact</a:t>
            </a:r>
          </a:p>
        </p:txBody>
      </p:sp>
      <p:pic>
        <p:nvPicPr>
          <p:cNvPr id="105" name="Picture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900" y="4804816"/>
            <a:ext cx="133350" cy="123825"/>
          </a:xfrm>
          <a:prstGeom prst="rect">
            <a:avLst/>
          </a:prstGeom>
        </p:spPr>
      </p:pic>
      <p:pic>
        <p:nvPicPr>
          <p:cNvPr id="106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900" y="5099399"/>
            <a:ext cx="133350" cy="123825"/>
          </a:xfrm>
          <a:prstGeom prst="rect">
            <a:avLst/>
          </a:prstGeom>
        </p:spPr>
      </p:pic>
      <p:pic>
        <p:nvPicPr>
          <p:cNvPr id="107" name="Picture 3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95750" y="2641996"/>
            <a:ext cx="190500" cy="1905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27D3D1-206A-4832-9455-FA2B590F0687}"/>
              </a:ext>
            </a:extLst>
          </p:cNvPr>
          <p:cNvSpPr>
            <a:spLocks noGrp="1"/>
          </p:cNvSpPr>
          <p:nvPr/>
        </p:nvSpPr>
        <p:spPr>
          <a:xfrm>
            <a:off x="4152900" y="3468647"/>
            <a:ext cx="18224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buNone/>
            </a:pPr>
            <a:r>
              <a:rPr sz="1125" b="0" i="0" u="none" dirty="0">
                <a:solidFill>
                  <a:srgbClr val="334155"/>
                </a:solidFill>
                <a:latin typeface="Inter"/>
                <a:ea typeface="Inter"/>
                <a:cs typeface="Inter"/>
              </a:rPr>
              <a:t>Current interactive systems struggle to model physical movement reliably across heterogeneous sensors.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EC89CA-2997-4397-9272-442DC0264247}"/>
              </a:ext>
            </a:extLst>
          </p:cNvPr>
          <p:cNvSpPr>
            <a:spLocks noGrp="1"/>
          </p:cNvSpPr>
          <p:nvPr/>
        </p:nvSpPr>
        <p:spPr>
          <a:xfrm>
            <a:off x="4152900" y="4611737"/>
            <a:ext cx="18224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buNone/>
            </a:pPr>
            <a:r>
              <a:rPr sz="1125" b="0" i="0" u="none" dirty="0">
                <a:solidFill>
                  <a:srgbClr val="334155"/>
                </a:solidFill>
                <a:latin typeface="Inter"/>
                <a:ea typeface="Inter"/>
                <a:cs typeface="Inter"/>
              </a:rPr>
              <a:t>Vision-only and isolated wearable approaches lack synchronized, standardized signals.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E6E4B4-2462-4BDC-B99C-17C919B977FB}"/>
              </a:ext>
            </a:extLst>
          </p:cNvPr>
          <p:cNvSpPr>
            <a:spLocks noGrp="1"/>
          </p:cNvSpPr>
          <p:nvPr/>
        </p:nvSpPr>
        <p:spPr>
          <a:xfrm>
            <a:off x="4152900" y="5664160"/>
            <a:ext cx="18224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buNone/>
            </a:pPr>
            <a:r>
              <a:rPr sz="1125" b="0" i="0" u="none" dirty="0">
                <a:solidFill>
                  <a:srgbClr val="334155"/>
                </a:solidFill>
                <a:latin typeface="Inter"/>
                <a:ea typeface="Inter"/>
                <a:cs typeface="Inter"/>
              </a:rPr>
              <a:t>This limits accurate analysis of posture, load symmetry, and physical exertion.</a:t>
            </a:r>
          </a:p>
        </p:txBody>
      </p:sp>
      <p:pic>
        <p:nvPicPr>
          <p:cNvPr id="111" name="Picture 3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27787" y="2641996"/>
            <a:ext cx="219075" cy="1905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F46DECB-563D-4417-970D-26C83553C3D9}"/>
              </a:ext>
            </a:extLst>
          </p:cNvPr>
          <p:cNvSpPr>
            <a:spLocks noGrp="1"/>
          </p:cNvSpPr>
          <p:nvPr/>
        </p:nvSpPr>
        <p:spPr>
          <a:xfrm>
            <a:off x="6899225" y="3499579"/>
            <a:ext cx="18224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buNone/>
            </a:pPr>
            <a:r>
              <a:rPr sz="1125" b="0" i="0" u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</a:rPr>
              <a:t>Camera + YOLO: Body-pose estimation and object detection.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2EEA97-8EFF-4B82-9D84-109A2EC6923F}"/>
              </a:ext>
            </a:extLst>
          </p:cNvPr>
          <p:cNvSpPr>
            <a:spLocks noGrp="1"/>
          </p:cNvSpPr>
          <p:nvPr/>
        </p:nvSpPr>
        <p:spPr>
          <a:xfrm>
            <a:off x="6899225" y="4275182"/>
            <a:ext cx="18224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buNone/>
            </a:pPr>
            <a:r>
              <a:rPr sz="1125" b="0" i="0" u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</a:rPr>
              <a:t>ESP32 + IMU: Precise motion, orientation, and stability telemetry.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FED8E5-B241-419E-A820-AA71C0443FE8}"/>
              </a:ext>
            </a:extLst>
          </p:cNvPr>
          <p:cNvSpPr>
            <a:spLocks noGrp="1"/>
          </p:cNvSpPr>
          <p:nvPr/>
        </p:nvSpPr>
        <p:spPr>
          <a:xfrm>
            <a:off x="6899225" y="5099779"/>
            <a:ext cx="18224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buNone/>
            </a:pPr>
            <a:r>
              <a:rPr sz="1125" b="0" i="0" u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</a:rPr>
              <a:t>Garmin Venu 3: Real-time heart-rate and physiological context.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C5B093-2308-442C-A073-CE2DB6E602D0}"/>
              </a:ext>
            </a:extLst>
          </p:cNvPr>
          <p:cNvSpPr>
            <a:spLocks noGrp="1"/>
          </p:cNvSpPr>
          <p:nvPr/>
        </p:nvSpPr>
        <p:spPr>
          <a:xfrm>
            <a:off x="6899243" y="5952862"/>
            <a:ext cx="1952625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00">
                <a:solidFill>
                  <a:srgbClr val="23324D"/>
                </a:solidFill>
                <a:latin typeface="Segoe UI"/>
                <a:ea typeface="Segoe UI"/>
                <a:cs typeface="Segoe UI"/>
              </a:defRPr>
            </a:pPr>
            <a:r>
              <a:rPr sz="1130" b="0" i="0" u="none" dirty="0">
                <a:solidFill>
                  <a:srgbClr val="23324D"/>
                </a:solidFill>
                <a:latin typeface="Inter SemiBold"/>
                <a:ea typeface="Segoe UI"/>
                <a:cs typeface="Segoe UI"/>
              </a:rPr>
              <a:t>Pipeline: Synchronizes and exports normalized JSON/JSONL features.</a:t>
            </a:r>
          </a:p>
        </p:txBody>
      </p:sp>
      <p:pic>
        <p:nvPicPr>
          <p:cNvPr id="116" name="Picture 4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88400" y="2641996"/>
            <a:ext cx="190500" cy="1905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22230CB-FE9E-48B3-AD8F-C1475A346B39}"/>
              </a:ext>
            </a:extLst>
          </p:cNvPr>
          <p:cNvSpPr>
            <a:spLocks noGrp="1"/>
          </p:cNvSpPr>
          <p:nvPr/>
        </p:nvSpPr>
        <p:spPr>
          <a:xfrm>
            <a:off x="9645550" y="3509416"/>
            <a:ext cx="1822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buNone/>
            </a:pPr>
            <a:r>
              <a:rPr sz="1125" b="0" i="0" u="none" dirty="0">
                <a:solidFill>
                  <a:srgbClr val="334155"/>
                </a:solidFill>
                <a:latin typeface="Inter"/>
                <a:ea typeface="Inter"/>
                <a:cs typeface="Inter"/>
              </a:rPr>
              <a:t>Produces reusable signals for arm extension, range, symmetry, and exertion.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45FAF8-8BEA-413E-9655-1CDB77174445}"/>
              </a:ext>
            </a:extLst>
          </p:cNvPr>
          <p:cNvSpPr>
            <a:spLocks noGrp="1"/>
          </p:cNvSpPr>
          <p:nvPr/>
        </p:nvSpPr>
        <p:spPr>
          <a:xfrm>
            <a:off x="9645550" y="4500016"/>
            <a:ext cx="1822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buNone/>
            </a:pPr>
            <a:r>
              <a:rPr sz="1125" b="0" i="0" u="none" dirty="0">
                <a:solidFill>
                  <a:srgbClr val="334155"/>
                </a:solidFill>
                <a:latin typeface="Inter"/>
                <a:ea typeface="Inter"/>
                <a:cs typeface="Inter"/>
              </a:rPr>
              <a:t>Provides consistent, frame-level data for rigorous HCI evaluation.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9CFBF3-FAA9-4E47-918F-3573BD03CCB5}"/>
              </a:ext>
            </a:extLst>
          </p:cNvPr>
          <p:cNvSpPr>
            <a:spLocks noGrp="1"/>
          </p:cNvSpPr>
          <p:nvPr/>
        </p:nvSpPr>
        <p:spPr>
          <a:xfrm>
            <a:off x="9645550" y="5490616"/>
            <a:ext cx="1822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buNone/>
            </a:pPr>
            <a:r>
              <a:rPr sz="1125" b="0" i="0" u="none" dirty="0">
                <a:solidFill>
                  <a:srgbClr val="334155"/>
                </a:solidFill>
                <a:latin typeface="Inter"/>
                <a:ea typeface="Inter"/>
                <a:cs typeface="Inter"/>
              </a:rPr>
              <a:t>Establishes a middleware foundation for adaptive, assistive, and rehabilitation systems.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1430E5-8DA7-4DC4-A2C5-2536376C161C}"/>
              </a:ext>
            </a:extLst>
          </p:cNvPr>
          <p:cNvSpPr>
            <a:spLocks noGrp="1"/>
          </p:cNvSpPr>
          <p:nvPr/>
        </p:nvSpPr>
        <p:spPr>
          <a:xfrm>
            <a:off x="3962400" y="3499246"/>
            <a:ext cx="104775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sz="1800" b="1" i="0" u="none" dirty="0">
                <a:solidFill>
                  <a:srgbClr val="FF0000"/>
                </a:solidFill>
                <a:latin typeface="Inter"/>
                <a:ea typeface="Inter"/>
                <a:cs typeface="Inter"/>
              </a:rPr>
              <a:t>•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691002-0B37-4DDC-9E67-755EA5D7C70A}"/>
              </a:ext>
            </a:extLst>
          </p:cNvPr>
          <p:cNvSpPr>
            <a:spLocks noGrp="1"/>
          </p:cNvSpPr>
          <p:nvPr/>
        </p:nvSpPr>
        <p:spPr>
          <a:xfrm>
            <a:off x="3962400" y="4642336"/>
            <a:ext cx="104775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sz="1800" b="1" i="0" u="none" dirty="0">
                <a:solidFill>
                  <a:srgbClr val="FF0000"/>
                </a:solidFill>
                <a:latin typeface="Inter"/>
                <a:ea typeface="Inter"/>
                <a:cs typeface="Inter"/>
              </a:rPr>
              <a:t>•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2CF51D-6968-4F65-848D-403338523FBF}"/>
              </a:ext>
            </a:extLst>
          </p:cNvPr>
          <p:cNvSpPr>
            <a:spLocks noGrp="1"/>
          </p:cNvSpPr>
          <p:nvPr/>
        </p:nvSpPr>
        <p:spPr>
          <a:xfrm>
            <a:off x="3962400" y="5694759"/>
            <a:ext cx="104775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sz="1800" b="1" i="0" u="none">
                <a:solidFill>
                  <a:srgbClr val="FF0000"/>
                </a:solidFill>
                <a:latin typeface="Inter"/>
                <a:ea typeface="Inter"/>
                <a:cs typeface="Inter"/>
              </a:rPr>
              <a:t>•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9B3D05-A7F4-4505-9273-D166CF1879C9}"/>
              </a:ext>
            </a:extLst>
          </p:cNvPr>
          <p:cNvSpPr>
            <a:spLocks noGrp="1"/>
          </p:cNvSpPr>
          <p:nvPr/>
        </p:nvSpPr>
        <p:spPr>
          <a:xfrm>
            <a:off x="6708725" y="3550754"/>
            <a:ext cx="104775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dirty="0">
                <a:solidFill>
                  <a:schemeClr val="accent1"/>
                </a:solidFill>
              </a:rPr>
              <a:t>•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2F5BDF-891C-46B4-AC05-42C1C74D55D8}"/>
              </a:ext>
            </a:extLst>
          </p:cNvPr>
          <p:cNvSpPr>
            <a:spLocks noGrp="1"/>
          </p:cNvSpPr>
          <p:nvPr/>
        </p:nvSpPr>
        <p:spPr>
          <a:xfrm>
            <a:off x="6708725" y="4326357"/>
            <a:ext cx="104775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dirty="0">
                <a:solidFill>
                  <a:schemeClr val="accent1"/>
                </a:solidFill>
              </a:rPr>
              <a:t>•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C57E3C-9569-4AC2-9056-B59A7CC062E9}"/>
              </a:ext>
            </a:extLst>
          </p:cNvPr>
          <p:cNvSpPr>
            <a:spLocks noGrp="1"/>
          </p:cNvSpPr>
          <p:nvPr/>
        </p:nvSpPr>
        <p:spPr>
          <a:xfrm>
            <a:off x="6708725" y="5150954"/>
            <a:ext cx="104775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dirty="0">
                <a:solidFill>
                  <a:schemeClr val="accent1"/>
                </a:solidFill>
              </a:rPr>
              <a:t>•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AB208C-1E85-4FEA-B42C-4B64BE71404F}"/>
              </a:ext>
            </a:extLst>
          </p:cNvPr>
          <p:cNvSpPr>
            <a:spLocks noGrp="1"/>
          </p:cNvSpPr>
          <p:nvPr/>
        </p:nvSpPr>
        <p:spPr>
          <a:xfrm>
            <a:off x="6708743" y="6004037"/>
            <a:ext cx="104775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dirty="0">
                <a:solidFill>
                  <a:schemeClr val="accent1"/>
                </a:solidFill>
              </a:rPr>
              <a:t>•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27DF55-FFF4-4BE7-8F2F-CEAB003FDB37}"/>
              </a:ext>
            </a:extLst>
          </p:cNvPr>
          <p:cNvSpPr>
            <a:spLocks noGrp="1"/>
          </p:cNvSpPr>
          <p:nvPr/>
        </p:nvSpPr>
        <p:spPr>
          <a:xfrm>
            <a:off x="9455050" y="3550754"/>
            <a:ext cx="104775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800" b="1" i="0" u="none" dirty="0">
                <a:solidFill>
                  <a:srgbClr val="00B050"/>
                </a:solidFill>
                <a:latin typeface="Inter"/>
                <a:ea typeface="Inter"/>
                <a:cs typeface="Inter"/>
              </a:rPr>
              <a:t>•</a:t>
            </a:r>
            <a:endParaRPr sz="1800" b="1" i="0" u="none" dirty="0">
              <a:solidFill>
                <a:srgbClr val="00B05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005B89-5C9C-4FE0-86AE-9E41948E40F2}"/>
              </a:ext>
            </a:extLst>
          </p:cNvPr>
          <p:cNvSpPr>
            <a:spLocks noGrp="1"/>
          </p:cNvSpPr>
          <p:nvPr/>
        </p:nvSpPr>
        <p:spPr>
          <a:xfrm>
            <a:off x="9455050" y="4541354"/>
            <a:ext cx="104775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sz="1800" b="1" i="0" u="none" dirty="0">
                <a:solidFill>
                  <a:srgbClr val="00B050"/>
                </a:solidFill>
                <a:latin typeface="Inter"/>
                <a:ea typeface="Inter"/>
                <a:cs typeface="Inter"/>
              </a:rPr>
              <a:t>•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C739E5-6AB2-45D7-B85B-B3D6E5710302}"/>
              </a:ext>
            </a:extLst>
          </p:cNvPr>
          <p:cNvSpPr>
            <a:spLocks noGrp="1"/>
          </p:cNvSpPr>
          <p:nvPr/>
        </p:nvSpPr>
        <p:spPr>
          <a:xfrm>
            <a:off x="9455050" y="5531954"/>
            <a:ext cx="104775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  <a:buNone/>
            </a:pPr>
            <a:r>
              <a:rPr sz="1800" b="1" i="0" u="none">
                <a:solidFill>
                  <a:srgbClr val="00B050"/>
                </a:solidFill>
                <a:latin typeface="Inter"/>
                <a:ea typeface="Inter"/>
                <a:cs typeface="Inter"/>
              </a:rPr>
              <a:t>•</a:t>
            </a: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D2C3B6BE-1199-04C7-7641-97E86F3BFDA6}"/>
              </a:ext>
            </a:extLst>
          </p:cNvPr>
          <p:cNvSpPr>
            <a:spLocks noGrp="1"/>
          </p:cNvSpPr>
          <p:nvPr/>
        </p:nvSpPr>
        <p:spPr>
          <a:xfrm>
            <a:off x="933450" y="6210300"/>
            <a:ext cx="1381125" cy="495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defRPr sz="825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lang="en-US" sz="900" b="1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</a:rPr>
              <a:t>Email:</a:t>
            </a:r>
          </a:p>
          <a:p>
            <a:pPr>
              <a:defRPr sz="825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lang="en-US" sz="825" dirty="0">
                <a:solidFill>
                  <a:srgbClr val="475569"/>
                </a:solidFill>
                <a:latin typeface="Segoe UI"/>
                <a:ea typeface="Segoe UI"/>
                <a:cs typeface="Segoe UI"/>
                <a:hlinkClick r:id="rId24"/>
              </a:rPr>
              <a:t>milton.meraz@dal.ca</a:t>
            </a:r>
            <a:endParaRPr lang="en-US" sz="825" dirty="0">
              <a:solidFill>
                <a:srgbClr val="475569"/>
              </a:solidFill>
              <a:latin typeface="Segoe UI"/>
              <a:ea typeface="Segoe UI"/>
              <a:cs typeface="Segoe UI"/>
            </a:endParaRPr>
          </a:p>
          <a:p>
            <a:pPr>
              <a:defRPr sz="825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r>
              <a:rPr lang="en-US" sz="825" dirty="0">
                <a:solidFill>
                  <a:srgbClr val="475569"/>
                </a:solidFill>
                <a:latin typeface="Segoe UI"/>
                <a:ea typeface="Segoe UI"/>
                <a:cs typeface="Segoe UI"/>
                <a:hlinkClick r:id="rId25"/>
              </a:rPr>
              <a:t>milton.tm2003@gmail.com</a:t>
            </a:r>
            <a:endParaRPr lang="en-US" sz="825" dirty="0">
              <a:solidFill>
                <a:srgbClr val="475569"/>
              </a:solidFill>
              <a:latin typeface="Segoe UI"/>
              <a:ea typeface="Segoe UI"/>
              <a:cs typeface="Segoe UI"/>
            </a:endParaRPr>
          </a:p>
          <a:p>
            <a:pPr>
              <a:defRPr sz="825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pPr>
            <a:endParaRPr sz="825" dirty="0">
              <a:solidFill>
                <a:srgbClr val="475569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4" name="Picture 3" descr="The Dal Brand | Welcome to Dalhousie University">
            <a:extLst>
              <a:ext uri="{FF2B5EF4-FFF2-40B4-BE49-F238E27FC236}">
                <a16:creationId xmlns:a16="http://schemas.microsoft.com/office/drawing/2014/main" id="{F09A11EA-4CFA-0BF6-275F-35A0015C6EA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74049" y="283263"/>
            <a:ext cx="1441701" cy="101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55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DocSecurity>0</DocSecurity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Inter</vt:lpstr>
      <vt:lpstr>Inter SemiBold</vt:lpstr>
      <vt:lpstr>Playfair Display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MILTON ESTUARDO TORRES MERAZ</cp:lastModifiedBy>
  <cp:revision>1</cp:revision>
  <dcterms:created xsi:type="dcterms:W3CDTF">2026-07-19T05:34:57Z</dcterms:created>
  <dcterms:modified xsi:type="dcterms:W3CDTF">2026-07-19T06:03:21Z</dcterms:modified>
</cp:coreProperties>
</file>